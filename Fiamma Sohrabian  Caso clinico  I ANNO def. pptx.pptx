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335" r:id="rId2"/>
    <p:sldId id="267" r:id="rId3"/>
    <p:sldId id="337" r:id="rId4"/>
    <p:sldId id="353" r:id="rId5"/>
    <p:sldId id="349" r:id="rId6"/>
    <p:sldId id="387" r:id="rId7"/>
    <p:sldId id="398" r:id="rId8"/>
    <p:sldId id="363" r:id="rId9"/>
    <p:sldId id="350" r:id="rId10"/>
    <p:sldId id="339" r:id="rId11"/>
    <p:sldId id="354" r:id="rId12"/>
    <p:sldId id="366" r:id="rId13"/>
    <p:sldId id="383" r:id="rId14"/>
    <p:sldId id="367" r:id="rId15"/>
    <p:sldId id="390" r:id="rId16"/>
    <p:sldId id="411" r:id="rId17"/>
    <p:sldId id="412" r:id="rId18"/>
    <p:sldId id="413" r:id="rId19"/>
    <p:sldId id="414" r:id="rId20"/>
    <p:sldId id="384" r:id="rId21"/>
    <p:sldId id="416" r:id="rId22"/>
    <p:sldId id="397" r:id="rId23"/>
    <p:sldId id="403" r:id="rId24"/>
    <p:sldId id="401" r:id="rId25"/>
    <p:sldId id="417" r:id="rId26"/>
    <p:sldId id="415" r:id="rId27"/>
    <p:sldId id="377" r:id="rId28"/>
    <p:sldId id="378" r:id="rId29"/>
    <p:sldId id="393" r:id="rId30"/>
    <p:sldId id="408" r:id="rId31"/>
    <p:sldId id="407" r:id="rId32"/>
    <p:sldId id="405" r:id="rId33"/>
    <p:sldId id="396" r:id="rId34"/>
    <p:sldId id="379" r:id="rId35"/>
    <p:sldId id="395" r:id="rId36"/>
    <p:sldId id="381" r:id="rId37"/>
    <p:sldId id="38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cardo Pella" initials="R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E5"/>
    <a:srgbClr val="F4D8AE"/>
    <a:srgbClr val="FAF4E5"/>
    <a:srgbClr val="FFFAEF"/>
    <a:srgbClr val="FFFFFF"/>
    <a:srgbClr val="DFDCD5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449" autoAdjust="0"/>
    <p:restoredTop sz="81406" autoAdjust="0"/>
  </p:normalViewPr>
  <p:slideViewPr>
    <p:cSldViewPr snapToGrid="0">
      <p:cViewPr varScale="1">
        <p:scale>
          <a:sx n="89" d="100"/>
          <a:sy n="89" d="100"/>
        </p:scale>
        <p:origin x="1256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83D2B-E2B7-4096-967F-3ED3DB4DC769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DFA31-3718-4935-899D-079754FEEDA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11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8696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827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006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Il diabete mellito di tipo I è una delle malattie endocrine croniche più diffuse, caratterizzata dall’incapacità di produrre insulina, che porta ad iperglicemia e carenza insulinica. E’ una patologia multifattoriale con una patogenesi autoimmune, si ritiene che la patogenesi coinvolga la distruzione delle cellule beta mediata dai linfociti T. </a:t>
            </a:r>
            <a:r>
              <a:rPr lang="it-IT" sz="1200" dirty="0"/>
              <a:t>(((difatti gli autoanticorpi diretti contro le isole pancreatiche (decarbossilasi dell’acido glutammico, il trasportatore 8 dello zinco, </a:t>
            </a:r>
            <a:r>
              <a:rPr lang="it-IT" sz="1200" dirty="0" err="1"/>
              <a:t>tirosin</a:t>
            </a:r>
            <a:r>
              <a:rPr lang="it-IT" sz="1200" dirty="0"/>
              <a:t> fosfatasi, anti isola pancreatica..) sono biomarcatori che si riscontrano mesi o anni prima dell’insorgenza dei sintomi e possono essere utilizzati per identificare e studiare gli individui a rischio di sviluppare diabete: è stato visto che la positività ad 1 solo anticorpo porta nel 5% dei casi a diagnosi di malattia entro 10 anni, nel caso di doppia positività il rischio aumenta al 50% e nel caso di 3 anticorpi all’80%))). </a:t>
            </a:r>
            <a:r>
              <a:rPr lang="it-IT" b="1" dirty="0"/>
              <a:t>L’incidenza raggiunge il picco nella pubertà e nella prima età adulta, ma l’esordio </a:t>
            </a:r>
            <a:r>
              <a:rPr lang="it-IT" b="1" dirty="0" err="1"/>
              <a:t>puo</a:t>
            </a:r>
            <a:r>
              <a:rPr lang="it-IT" b="1" dirty="0"/>
              <a:t> verificarsi a qualsiasi età. Tuttavia la prevalenza è più elevata tra gli adulti perché le persone con diabete di tipo I vivono per molti anni. </a:t>
            </a:r>
            <a:r>
              <a:rPr lang="it-IT" dirty="0"/>
              <a:t>In Italia ogni 2 minuti una persona riceve diagnosi di diabete, ogni 7 minuti </a:t>
            </a:r>
            <a:r>
              <a:rPr lang="it-IT" dirty="0" err="1"/>
              <a:t>jha</a:t>
            </a:r>
            <a:r>
              <a:rPr lang="it-IT" dirty="0"/>
              <a:t> un evento cardiovascolare e ogni ora e mezza subisce un’amputazione. </a:t>
            </a:r>
            <a:r>
              <a:rPr lang="it-IT" b="1" dirty="0"/>
              <a:t>E’ presente certamente un elemento di familiarità: circa il 60% del rischio genetico deriva da alcune varianti specifiche dei geni del sistema maggiore di istocompatibilità </a:t>
            </a:r>
            <a:r>
              <a:rPr lang="it-IT" dirty="0"/>
              <a:t>(HLA-DR3-DQ2 e HLA-DR4-DQ8) che influenzano il legame con i peptidi antigenici e la presentazione di questi ai linfociti T.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1413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1. La chetoacidosi diabetica è la complicanza acuta </a:t>
            </a:r>
            <a:r>
              <a:rPr lang="it-IT" dirty="0" err="1"/>
              <a:t>piu</a:t>
            </a:r>
            <a:r>
              <a:rPr lang="it-IT" dirty="0"/>
              <a:t> frequente e pericolosa nel diabete di tipo 1. E’ una condizione in cui, a causa della mancanza di insulina, le cellule non riescono più ad utilizzare glucosio per produrre energia e l’organismo inizia ad utilizzare i lipidi per la produzione di energia, producendo corpi chetonici che causano l’acidosi metabolica manifestandosi con nausea, vomito, dolore addominale, alito acetonico, respiro profondo e rapido (respiro di Kussmaul), disidratazione, confusione, sonnolenza, fino al coma. (((Si tratta di un’emergenza medica in cui va somministrata insulina EV, liquidi e correzione degli elettroliti (K). La chetoacidosi diabetica si </a:t>
            </a:r>
            <a:r>
              <a:rPr lang="it-IT" dirty="0" err="1"/>
              <a:t>puo</a:t>
            </a:r>
            <a:r>
              <a:rPr lang="it-IT" dirty="0"/>
              <a:t> complicare raramente con edema cerebrale, </a:t>
            </a:r>
            <a:r>
              <a:rPr lang="it-IT" dirty="0" err="1"/>
              <a:t>piu</a:t>
            </a:r>
            <a:r>
              <a:rPr lang="it-IT" dirty="0"/>
              <a:t> frequente nei bambini.))) Spesso la chetoacidosi </a:t>
            </a:r>
            <a:r>
              <a:rPr lang="it-IT" dirty="0" err="1"/>
              <a:t>puo’</a:t>
            </a:r>
            <a:r>
              <a:rPr lang="it-IT" dirty="0"/>
              <a:t> essere la prima manifestazione del diabete di tipo 1. </a:t>
            </a:r>
          </a:p>
          <a:p>
            <a:r>
              <a:rPr lang="it-IT" dirty="0"/>
              <a:t>2. L’ipoglicemia è un’altra complicanza acuta importante che </a:t>
            </a:r>
            <a:r>
              <a:rPr lang="it-IT" dirty="0" err="1"/>
              <a:t>puo’</a:t>
            </a:r>
            <a:r>
              <a:rPr lang="it-IT" dirty="0"/>
              <a:t> essere dovuta a dosi eccessive di insulina, pasti saltati, attività fisica intensa senza adeguata alimentazione. Nella fase iniziale  (sotto i 70) si ha compenso </a:t>
            </a:r>
            <a:r>
              <a:rPr lang="it-IT" dirty="0" err="1"/>
              <a:t>sna</a:t>
            </a:r>
            <a:r>
              <a:rPr lang="it-IT" dirty="0"/>
              <a:t> con aumento adrenergico e glucagone: sudorazione, fame, tremori, palpitazioni fino alla fase avanzata (&lt;50) con stanchezza, sonnolenza, confusione, alterazioni della vista, e sotto i 30 crisi convulsive, fino alla perdita di coscienza e al coma ipoglicemico e alla morte (aritmie ventricolari, allungamento QT).((( Se il paziente è cosciente si somministrano zuccheri semplici ((((succo di frutta, zucchero, glucosio: 15 gr di glucosio ogni 15 minuti fino a raggiungere 100, poi carboidrato complesso), se incosciente: </a:t>
            </a:r>
            <a:r>
              <a:rPr lang="it-IT" dirty="0" err="1"/>
              <a:t>glucacone</a:t>
            </a:r>
            <a:r>
              <a:rPr lang="it-IT" dirty="0"/>
              <a:t> o glucosio EV. </a:t>
            </a:r>
          </a:p>
          <a:p>
            <a:r>
              <a:rPr lang="it-IT" dirty="0"/>
              <a:t>((((L’ipoglicemia a livello cardiaco: allungamento QT aritmie ventricolari))))</a:t>
            </a:r>
          </a:p>
          <a:p>
            <a:r>
              <a:rPr lang="it-IT" dirty="0"/>
              <a:t>3. L’iperglicemia (((</a:t>
            </a:r>
            <a:r>
              <a:rPr lang="it-IT" dirty="0" err="1"/>
              <a:t>puo’</a:t>
            </a:r>
            <a:r>
              <a:rPr lang="it-IT" dirty="0"/>
              <a:t> essere legata ad un dosaggio inadeguato o dimenticanza dell’insulina, alimentazione eccessiva o sbilanciata, infezioni o stress psico/fisico, guasti al microinfusore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480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7C74-51FE-1172-2DDB-612C2DBA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895556-3FB6-922F-24AB-6FA27C278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4FB7902-6DE3-96C7-2DEE-BB7B8498F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 complicanze croniche si sviluppano nel lungo termine, dopo anni in cui la glicemia è mal controllata. Sono dovute principalmente ai danni che l’iperglicemia prolungata provoca ai vasi sanguigni, di piccolo calibro (microvascolari) e di grande calibro (</a:t>
            </a:r>
            <a:r>
              <a:rPr lang="it-IT" dirty="0" err="1"/>
              <a:t>macrovascolari</a:t>
            </a:r>
            <a:r>
              <a:rPr lang="it-IT" dirty="0"/>
              <a:t>). Il diabete mellito rappresenta la causa </a:t>
            </a:r>
            <a:r>
              <a:rPr lang="it-IT" dirty="0" err="1"/>
              <a:t>piu</a:t>
            </a:r>
            <a:r>
              <a:rPr lang="it-IT" dirty="0"/>
              <a:t> frequente di cecità nell’adulto ed è anche la patologia che </a:t>
            </a:r>
            <a:r>
              <a:rPr lang="it-IT" dirty="0" err="1"/>
              <a:t>piu</a:t>
            </a:r>
            <a:r>
              <a:rPr lang="it-IT" dirty="0"/>
              <a:t> frequentemente porta all’insufficienza renale  e alla dialisi e trapianto di rene. E’ importante la prevenzione con controllo glicemico ottimale (glicata&lt;7%), PA ben controllata (&lt;130/80), lipidi (LDL&lt;100 o &lt;70 se alto rischio), stile di vita sano: attività fisica </a:t>
            </a:r>
          </a:p>
          <a:p>
            <a:endParaRPr lang="it-IT" dirty="0"/>
          </a:p>
          <a:p>
            <a:r>
              <a:rPr lang="it-IT" dirty="0"/>
              <a:t>(((Meccanismi alla base: stress ossidativo, secrezione di molecole pro-infiammatorie, apoptosi, prodotti avanzati della glicazione terminale/AGE (proteine o lipidi che vengono glicati a causa dell’esposizione al glucosio, possono indurre cross linking del collage e conseguente intrappolamento delle LDL o anche </a:t>
            </a:r>
            <a:r>
              <a:rPr lang="it-IT" dirty="0" err="1"/>
              <a:t>glicare</a:t>
            </a:r>
            <a:r>
              <a:rPr lang="it-IT" dirty="0"/>
              <a:t> le LDL promuovendone l’ossidazione e aumentando il rischio aterosclerotico). </a:t>
            </a:r>
          </a:p>
          <a:p>
            <a:endParaRPr lang="it-IT" dirty="0"/>
          </a:p>
          <a:p>
            <a:r>
              <a:rPr lang="it-IT" dirty="0"/>
              <a:t>(((Retinopatia incidenza aumenta con l’aumentare della durata della malattia e dopo i 20 anni raggiunge il plateau.</a:t>
            </a:r>
          </a:p>
          <a:p>
            <a:r>
              <a:rPr lang="it-IT" dirty="0"/>
              <a:t>Nefropatia picco di incidenza a 15 anni dall’esordio di malattia per poi decrescere rapidamente. Causa </a:t>
            </a:r>
            <a:r>
              <a:rPr lang="it-IT" dirty="0" err="1"/>
              <a:t>piu</a:t>
            </a:r>
            <a:r>
              <a:rPr lang="it-IT" dirty="0"/>
              <a:t> frequente di IR terminale </a:t>
            </a:r>
          </a:p>
          <a:p>
            <a:r>
              <a:rPr lang="it-IT" dirty="0"/>
              <a:t>Nel DMTI la retinopatia e la nefropatia si associano nel 100% dei casi.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E71479-CD4B-F27F-CE54-5F8DA9374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9024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1792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20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6031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02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Si prosegue con l’ecocardiogramma, che mostra dimensioni dell’aorta ascendente ai limiti superiori. Dimensioni dell’aorta ascendente e arco ai limiti superiori.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726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una lieve ipertrofia del setto interventricolare (e normali dimensioni interne del </a:t>
            </a:r>
            <a:r>
              <a:rPr lang="it-IT" baseline="0" dirty="0" err="1"/>
              <a:t>vn</a:t>
            </a:r>
            <a:r>
              <a:rPr lang="it-IT" baseline="0" dirty="0"/>
              <a:t> sx )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992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Normale Frazione di eiezione del 60 %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2810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E atrio sinistro di volume stimato appena aumentato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630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6B17-FE15-4D15-3D9C-8C89BC90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6E348A-B6AA-444D-42DA-9BF14FA61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2944BF-B4B8-7D70-3125-2BBEC778D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Alterata funzione diastolica. Alterato Il profilo doppler del </a:t>
            </a:r>
            <a:r>
              <a:rPr lang="it-IT" dirty="0"/>
              <a:t>FVP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09315F-25E7-6499-39ED-6241CD812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3915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8FDD-A1E5-25CD-1843-E15C3CEDA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85AD31-F38A-0F9F-74C2-2ADB21946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45E7CCD-A903-C87E-FA71-74E5B4EA1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Alterati anche i TDI setto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89E8DD-E430-52D8-1AAF-9B0E8CD94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276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4E77-5C75-8A8D-5BD6-FCA9394D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F2BC28-FC70-6AD0-E6FD-D004A25B3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BE5F10A-1F00-143D-B94E-A3DEABADE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 i TDI della parete laterale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F440C4-B5A2-68DA-0D7D-F4B77B5ED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038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2424-200E-60EA-F7D4-BB4FF63C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2146287-F158-A212-2E7E-3E0FF17E9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433FB43-842A-CED2-40C2-16F2C5EEE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(normale) TDI parete destra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A7F75D-9EDF-F197-8CE8-8B74307FE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408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Esegue il test da sforzo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5055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65F94-752F-04E6-0CC5-DA2AF9E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6A60C3B-2E5D-A7F9-69FB-6BE6ABEE2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EB0A0F-F123-2E5B-3385-B2FD6D6D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aseline="0" dirty="0"/>
              <a:t>risultato massimale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CA84C6-1AD3-0780-F121-8A4FA9FE9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1756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L’analisi dei gas mostra</a:t>
            </a:r>
            <a:r>
              <a:rPr lang="it-IT" baseline="0" dirty="0"/>
              <a:t> una normale tolleranza all’esercizio fisico con consumo di ossigeno pari al 103% del teorico. Il CPET non mostra segni di limitazione periferica, cardiovascolare o respiratoria all’esercizio fisico.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201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BF40-B632-7E35-4A0B-99D3A704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78A7759-D2CE-0093-3B83-09A6E5DF0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D763873-26DC-DDF1-C906-3F776FE4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Viene impostato un programma di prescrizione dell’esercizio fisico con attività più vigorosa per 6 mesi con attività aerobica 3 </a:t>
            </a:r>
            <a:r>
              <a:rPr lang="it-IT" dirty="0" err="1"/>
              <a:t>vv</a:t>
            </a:r>
            <a:r>
              <a:rPr lang="it-IT" dirty="0"/>
              <a:t>/sett. </a:t>
            </a:r>
          </a:p>
          <a:p>
            <a:endParaRPr lang="it-IT" dirty="0"/>
          </a:p>
          <a:p>
            <a:r>
              <a:rPr lang="it-IT" dirty="0"/>
              <a:t>Infatti, l’American </a:t>
            </a:r>
            <a:r>
              <a:rPr lang="it-IT" dirty="0" err="1"/>
              <a:t>Diabetes</a:t>
            </a:r>
            <a:r>
              <a:rPr lang="it-IT" dirty="0"/>
              <a:t> Association raccomanda almeno 150 minuti a settimana di esercizio aerobico per migliorare la regolazione glicemica e favorire il controllo della malattia.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C5AB83-A2FF-2103-A37F-5B29E6D51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340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8405-3B88-3239-78D3-A9B85B2E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452671-2F89-D70C-1E24-32DD2046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6B655C9-0540-53C3-2AE7-A0989F4EE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Torna dopo un anno: novembre 2023 test sempre massimale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E9C97D-F9F7-DA61-DA1F-55C104D52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42057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EE650-16FF-0BDB-B778-9F9D62B7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33BF76-E30A-F072-D089-F6CA80900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E103EF-5720-B1B7-4734-F3E90C6E0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Torna dopo un anno: novembre 2023 test sempre massimale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7CA0F6-356B-88AB-A385-96021402A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1525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2A66-49A7-4D9D-5769-0A8F9513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A3D9A1-5B58-B48F-928F-048695A3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03FD4C-47D6-E384-D3BB-F6063EE30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LIEVE MIGLIORAMENTO: consumo d’ossigeno 126% del teorico</a:t>
            </a:r>
          </a:p>
          <a:p>
            <a:r>
              <a:rPr lang="it-IT" dirty="0"/>
              <a:t>L’analisi dei gas ha mostrato normale tolleranza all’esercizio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6B5522-663C-35E9-F92A-DD8FE865B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74265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003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generale per i pazienti con DMT1 gli sport raccomandati sono quelli di gruppo A quindi sport aerobici, mentre sono autorizzati quelli di gruppo B o misti e di destrezza , invece sono sconsigliati sport di gruppo C e D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7603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1554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12F1-C4F8-F3FC-6F4B-07EA6B46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E2D1FB8-A596-F3F9-D3AC-19D9C2E8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0052C1-267C-1EC8-AFF8-E16DD721D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baseline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3E4450-ED66-E1DD-0028-AEDC58E8A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468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F28E8-8E5F-C508-BB73-2D58C647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6FB7588-4CBD-6FAB-DC4E-FBEF778BF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92CE65-70D6-29B7-8E5C-83520405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b="0" baseline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D17AC7-5F64-E8D1-B147-65900170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63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8435-9D86-BE24-4433-8CB6CFA1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5D2A1AB-C142-7A63-38FB-DB4D74472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EB80E36-0067-5CCB-2231-B85FE26D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baseline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C916AD-7968-836B-82DF-E6C7B7B0D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9110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8109-3CCB-4248-7F88-10F9932B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ABC8D2-4A30-2A36-1ED6-06FDAEEAD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B8B07E5-9996-CFBD-F088-7385A84C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6BB8B1-8448-BDB8-2587-B74475506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065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4906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9BB2-80D6-FE9E-1F0C-0767A31C2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04264D8-F27E-9350-F2A0-63D576235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302C40B-2BBE-0050-64F3-9510A567E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FFCB93-5CC9-84B6-9F56-5A963845B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DFA31-3718-4935-899D-079754FEEDA8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802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13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125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210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156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26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1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586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797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160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6725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100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DDA0D-F9BB-4238-AA91-CD09693AA5AC}" type="datetimeFigureOut">
              <a:rPr lang="it-IT" smtClean="0"/>
              <a:t>30/10/25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881B9-F905-4816-90BC-50112FC536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85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5">
            <a:extLst>
              <a:ext uri="{FF2B5EF4-FFF2-40B4-BE49-F238E27FC236}">
                <a16:creationId xmlns:a16="http://schemas.microsoft.com/office/drawing/2014/main" id="{B9F3FC3B-93DE-4A92-9A98-000F7A2D8CE3}"/>
              </a:ext>
            </a:extLst>
          </p:cNvPr>
          <p:cNvSpPr/>
          <p:nvPr/>
        </p:nvSpPr>
        <p:spPr>
          <a:xfrm>
            <a:off x="2726490" y="1268386"/>
            <a:ext cx="5933440" cy="605948"/>
          </a:xfrm>
          <a:prstGeom prst="rect">
            <a:avLst/>
          </a:prstGeom>
          <a:noFill/>
          <a:ln>
            <a:noFill/>
          </a:ln>
          <a:effectLst/>
        </p:spPr>
        <p:txBody>
          <a:bodyPr lIns="67500" tIns="33750" rIns="67500" bIns="33750"/>
          <a:lstStyle/>
          <a:p>
            <a:pPr algn="ctr" defTabSz="685800">
              <a:defRPr/>
            </a:pPr>
            <a:r>
              <a:rPr lang="it-IT" sz="15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SCUOLA DI SPECIALIZZAZIONE IN </a:t>
            </a:r>
          </a:p>
          <a:p>
            <a:pPr algn="ctr" defTabSz="685800">
              <a:defRPr/>
            </a:pPr>
            <a:r>
              <a:rPr lang="it-IT" sz="15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MEDICINA DELLO SPORT  E DELL’ESERCIZIO FISICO </a:t>
            </a:r>
            <a:endParaRPr lang="it-IT" sz="1500" kern="0" spc="-1" dirty="0">
              <a:solidFill>
                <a:srgbClr val="002060"/>
              </a:solidFill>
              <a:latin typeface="Arial"/>
            </a:endParaRPr>
          </a:p>
          <a:p>
            <a:pPr algn="ctr" defTabSz="685800">
              <a:defRPr/>
            </a:pPr>
            <a:r>
              <a:rPr lang="it-IT" sz="15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(Direttore: Prof. Vincenzo Palmieri)</a:t>
            </a:r>
            <a:endParaRPr lang="it-IT" sz="1500" kern="0" spc="-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7C4436B-2EA6-40E4-AB0A-8207F42DAC1D}"/>
              </a:ext>
            </a:extLst>
          </p:cNvPr>
          <p:cNvSpPr/>
          <p:nvPr/>
        </p:nvSpPr>
        <p:spPr>
          <a:xfrm>
            <a:off x="2726490" y="3964341"/>
            <a:ext cx="4004727" cy="536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3750" rIns="67500" bIns="33750"/>
          <a:lstStyle/>
          <a:p>
            <a:pPr algn="ctr" defTabSz="685800">
              <a:defRPr/>
            </a:pPr>
            <a:r>
              <a:rPr lang="it-IT" sz="2400" b="1" i="1" dirty="0">
                <a:solidFill>
                  <a:srgbClr val="17375E"/>
                </a:solidFill>
                <a:latin typeface="Times New Roman"/>
                <a:cs typeface="Times New Roman"/>
              </a:rPr>
              <a:t>Dott.ssa Fiamma  Sohrabian</a:t>
            </a:r>
          </a:p>
        </p:txBody>
      </p:sp>
      <p:sp>
        <p:nvSpPr>
          <p:cNvPr id="9" name="CustomShape 6">
            <a:extLst>
              <a:ext uri="{FF2B5EF4-FFF2-40B4-BE49-F238E27FC236}">
                <a16:creationId xmlns:a16="http://schemas.microsoft.com/office/drawing/2014/main" id="{2513D937-DEF2-4478-89E3-2B9081B5671B}"/>
              </a:ext>
            </a:extLst>
          </p:cNvPr>
          <p:cNvSpPr/>
          <p:nvPr/>
        </p:nvSpPr>
        <p:spPr>
          <a:xfrm>
            <a:off x="1055729" y="5999310"/>
            <a:ext cx="7300634" cy="536220"/>
          </a:xfrm>
          <a:prstGeom prst="rect">
            <a:avLst/>
          </a:prstGeom>
          <a:noFill/>
          <a:ln>
            <a:noFill/>
          </a:ln>
          <a:effectLst/>
        </p:spPr>
        <p:txBody>
          <a:bodyPr lIns="51300" tIns="51300" rIns="51300" bIns="51300"/>
          <a:lstStyle/>
          <a:p>
            <a:pPr algn="ctr" defTabSz="342900" hangingPunct="0">
              <a:defRPr/>
            </a:pPr>
            <a:r>
              <a:rPr lang="it-IT" b="1" i="1" dirty="0">
                <a:solidFill>
                  <a:srgbClr val="17375E"/>
                </a:solidFill>
                <a:latin typeface="Times New Roman"/>
                <a:cs typeface="Times New Roman"/>
                <a:sym typeface="Times New Roman"/>
              </a:rPr>
              <a:t>Roma, 31 ottobre 2025 - Prova finale I anno, Anno Accademico 2023-2024</a:t>
            </a:r>
          </a:p>
        </p:txBody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EAE356F8-5B6B-4AE4-8EB9-7ECD30EABA36}"/>
              </a:ext>
            </a:extLst>
          </p:cNvPr>
          <p:cNvSpPr/>
          <p:nvPr/>
        </p:nvSpPr>
        <p:spPr>
          <a:xfrm>
            <a:off x="873760" y="2688891"/>
            <a:ext cx="7396480" cy="1366890"/>
          </a:xfrm>
          <a:prstGeom prst="rect">
            <a:avLst/>
          </a:prstGeom>
          <a:solidFill>
            <a:srgbClr val="FFFFFF"/>
          </a:solidFill>
          <a:ln w="12600">
            <a:noFill/>
          </a:ln>
          <a:effectLst/>
        </p:spPr>
        <p:txBody>
          <a:bodyPr lIns="67500" tIns="33750" rIns="67500" bIns="33750" anchor="ctr">
            <a:normAutofit/>
          </a:bodyPr>
          <a:lstStyle/>
          <a:p>
            <a:pPr algn="ctr" defTabSz="685800">
              <a:lnSpc>
                <a:spcPct val="90000"/>
              </a:lnSpc>
              <a:defRPr/>
            </a:pPr>
            <a:r>
              <a:rPr lang="it-IT" sz="3200" b="1" i="1" kern="0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Dolce equilibrio: </a:t>
            </a:r>
          </a:p>
          <a:p>
            <a:pPr algn="ctr" defTabSz="685800">
              <a:lnSpc>
                <a:spcPct val="90000"/>
              </a:lnSpc>
              <a:defRPr/>
            </a:pPr>
            <a:r>
              <a:rPr lang="it-IT" sz="3200" b="1" i="1" kern="0" spc="-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cuore in bilico sul filo del metabolismo</a:t>
            </a:r>
          </a:p>
        </p:txBody>
      </p:sp>
      <p:sp>
        <p:nvSpPr>
          <p:cNvPr id="11" name="CustomShape 5"/>
          <p:cNvSpPr/>
          <p:nvPr/>
        </p:nvSpPr>
        <p:spPr>
          <a:xfrm>
            <a:off x="2790170" y="453830"/>
            <a:ext cx="5601536" cy="605948"/>
          </a:xfrm>
          <a:prstGeom prst="rect">
            <a:avLst/>
          </a:prstGeom>
          <a:noFill/>
          <a:ln>
            <a:noFill/>
          </a:ln>
          <a:effectLst/>
        </p:spPr>
        <p:txBody>
          <a:bodyPr lIns="67500" tIns="33750" rIns="67500" bIns="33750"/>
          <a:lstStyle/>
          <a:p>
            <a:pPr algn="ctr" defTabSz="685800">
              <a:defRPr/>
            </a:pPr>
            <a:r>
              <a:rPr lang="it-IT" sz="20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UNIVERSITÀ CATTOLICA DEL SACRO CUORE</a:t>
            </a:r>
          </a:p>
          <a:p>
            <a:pPr algn="ctr" defTabSz="685800">
              <a:defRPr/>
            </a:pPr>
            <a:r>
              <a:rPr lang="it-IT" sz="15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Fondazione Policlinico </a:t>
            </a:r>
            <a:r>
              <a:rPr lang="it-IT" sz="1500" b="1" i="1" kern="0" spc="-1" dirty="0">
                <a:solidFill>
                  <a:srgbClr val="002060"/>
                </a:solidFill>
                <a:latin typeface="Times New Roman"/>
              </a:rPr>
              <a:t>Universitario "A. Gemelli" </a:t>
            </a:r>
            <a:r>
              <a:rPr lang="it-IT" sz="1500" b="1" i="1" kern="0" spc="-1" dirty="0">
                <a:solidFill>
                  <a:srgbClr val="002060"/>
                </a:solidFill>
                <a:latin typeface="Times New Roman"/>
                <a:ea typeface="DejaVu Sans"/>
              </a:rPr>
              <a:t>– IRCCS - Roma</a:t>
            </a:r>
            <a:endParaRPr lang="it-IT" sz="1500" kern="0" spc="-1" dirty="0">
              <a:solidFill>
                <a:srgbClr val="002060"/>
              </a:solidFill>
              <a:latin typeface="Arial"/>
            </a:endParaRPr>
          </a:p>
        </p:txBody>
      </p:sp>
      <p:pic>
        <p:nvPicPr>
          <p:cNvPr id="8" name="Immagine 7"/>
          <p:cNvPicPr/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27" t="-6932" r="-998" b="-6165"/>
          <a:stretch/>
        </p:blipFill>
        <p:spPr bwMode="auto">
          <a:xfrm>
            <a:off x="484070" y="322470"/>
            <a:ext cx="1588570" cy="1551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904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BDDF8-43EE-4164-B21D-2D3BB757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797" y="185928"/>
            <a:ext cx="3118403" cy="720069"/>
          </a:xfrm>
        </p:spPr>
        <p:txBody>
          <a:bodyPr>
            <a:normAutofit/>
          </a:bodyPr>
          <a:lstStyle/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</a:t>
            </a:r>
            <a:r>
              <a:rPr lang="it-IT" sz="3000" b="1" i="1" dirty="0">
                <a:solidFill>
                  <a:srgbClr val="C00000"/>
                </a:solidFill>
              </a:rPr>
              <a:t> </a:t>
            </a:r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7CC166-FBA4-4552-8A2B-8B1F460943A1}"/>
              </a:ext>
            </a:extLst>
          </p:cNvPr>
          <p:cNvSpPr txBox="1"/>
          <p:nvPr/>
        </p:nvSpPr>
        <p:spPr>
          <a:xfrm>
            <a:off x="576025" y="1465114"/>
            <a:ext cx="5495602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Sesso: 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Età: 59 anni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PODISMO a livello ludico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185244" y="5314234"/>
            <a:ext cx="8773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Giunge presso il nostro Centro per una valutazione medico-sportiva in quanto affetto da </a:t>
            </a:r>
            <a:r>
              <a:rPr lang="it-IT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</a:t>
            </a:r>
          </a:p>
        </p:txBody>
      </p:sp>
      <p:pic>
        <p:nvPicPr>
          <p:cNvPr id="10" name="Immagine 9" descr="Immagine che contiene persona, vestiti, Viso umano, aria aperta&#10;&#10;Descrizione generata automaticamente">
            <a:extLst>
              <a:ext uri="{FF2B5EF4-FFF2-40B4-BE49-F238E27FC236}">
                <a16:creationId xmlns:a16="http://schemas.microsoft.com/office/drawing/2014/main" id="{F13DEF63-9D53-8D53-E1EF-92788C01E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200" y="545732"/>
            <a:ext cx="2325725" cy="440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6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49FFAF0B-F93F-59E7-D8E6-259F3D06CE8B}"/>
              </a:ext>
            </a:extLst>
          </p:cNvPr>
          <p:cNvSpPr txBox="1"/>
          <p:nvPr/>
        </p:nvSpPr>
        <p:spPr>
          <a:xfrm>
            <a:off x="345539" y="1587452"/>
            <a:ext cx="67206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Familiare:</a:t>
            </a:r>
          </a:p>
          <a:p>
            <a:pPr marL="800100" lvl="1" indent="-34290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Ipertensione arteriosa (padre)</a:t>
            </a:r>
          </a:p>
          <a:p>
            <a:pPr marL="800100" lvl="1" indent="-34290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Cardiopatia ischemica (nonno materno)</a:t>
            </a:r>
          </a:p>
          <a:p>
            <a:pPr marL="800100" lvl="1" indent="-342900" algn="just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277A418-A38D-CD6C-5EC8-9559A290A3FD}"/>
              </a:ext>
            </a:extLst>
          </p:cNvPr>
          <p:cNvSpPr txBox="1"/>
          <p:nvPr/>
        </p:nvSpPr>
        <p:spPr>
          <a:xfrm>
            <a:off x="345539" y="3904754"/>
            <a:ext cx="6596588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Patologica: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Infezione da SARS-CoV-2 paucisintomatica (2021)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C4538FE7-0284-7D05-55B7-FFA8900BF98A}"/>
              </a:ext>
            </a:extLst>
          </p:cNvPr>
          <p:cNvSpPr txBox="1">
            <a:spLocks/>
          </p:cNvSpPr>
          <p:nvPr/>
        </p:nvSpPr>
        <p:spPr>
          <a:xfrm>
            <a:off x="2201873" y="181973"/>
            <a:ext cx="4740254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Anamnesi ed esame obiettivo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3"/>
          <a:srcRect l="30623" t="14232" r="30045" b="10035"/>
          <a:stretch/>
        </p:blipFill>
        <p:spPr>
          <a:xfrm>
            <a:off x="6555650" y="1055254"/>
            <a:ext cx="1895810" cy="474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51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DE82FA4B-27A5-5546-59B3-FFF73946D643}"/>
              </a:ext>
            </a:extLst>
          </p:cNvPr>
          <p:cNvSpPr txBox="1">
            <a:spLocks/>
          </p:cNvSpPr>
          <p:nvPr/>
        </p:nvSpPr>
        <p:spPr>
          <a:xfrm>
            <a:off x="2201873" y="181973"/>
            <a:ext cx="4740254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Anamnesi ed esame obiettivo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9FFAF0B-F93F-59E7-D8E6-259F3D06CE8B}"/>
              </a:ext>
            </a:extLst>
          </p:cNvPr>
          <p:cNvSpPr txBox="1"/>
          <p:nvPr/>
        </p:nvSpPr>
        <p:spPr>
          <a:xfrm>
            <a:off x="345538" y="1322567"/>
            <a:ext cx="6868061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Fisiologica: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Alimentazione libera e varia, alvo e diuresi regolari, riposo notturno conservato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Beve 5-6 caffè/die e vino ai pasti, nega tabagismo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 allergopatie note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Humalog</a:t>
            </a: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Lantus</a:t>
            </a:r>
            <a:endParaRPr lang="it-IT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 rotWithShape="1">
          <a:blip r:embed="rId3"/>
          <a:srcRect l="30623" t="14232" r="30045" b="10035"/>
          <a:stretch/>
        </p:blipFill>
        <p:spPr>
          <a:xfrm>
            <a:off x="7078016" y="1322567"/>
            <a:ext cx="1895810" cy="474749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FFAF0B-F93F-59E7-D8E6-259F3D06CE8B}"/>
              </a:ext>
            </a:extLst>
          </p:cNvPr>
          <p:cNvSpPr txBox="1"/>
          <p:nvPr/>
        </p:nvSpPr>
        <p:spPr>
          <a:xfrm>
            <a:off x="345538" y="4315941"/>
            <a:ext cx="72110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Esame obiettivo: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Soggetto in sovrappeso (102 kg, 185 cm, BMI 29.8)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ROC: toni netti, pause libere, attività ritmica</a:t>
            </a:r>
          </a:p>
          <a:p>
            <a:pPr marL="800100" lvl="1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it-IT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P.A. 130/70 mmHg</a:t>
            </a:r>
            <a:endParaRPr lang="it-IT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61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F54BEBB3-0ED5-0454-7901-28B0FFE14169}"/>
              </a:ext>
            </a:extLst>
          </p:cNvPr>
          <p:cNvSpPr txBox="1"/>
          <p:nvPr/>
        </p:nvSpPr>
        <p:spPr>
          <a:xfrm>
            <a:off x="435763" y="1461714"/>
            <a:ext cx="85664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delle malattie endocrine croniche più diffuse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Incapacità di produrre insulina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iperglicemia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Patogenesi in genere 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autoimmune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distruzione delle     cellule </a:t>
            </a:r>
            <a:r>
              <a:rPr lang="el-GR" sz="2400" b="0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sz="1800" b="0" i="0" u="none" strike="noStrike" dirty="0">
                <a:solidFill>
                  <a:srgbClr val="1F1F1F"/>
                </a:solidFill>
                <a:effectLst/>
                <a:latin typeface="inherit"/>
              </a:rPr>
              <a:t>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immunomediata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Picco di incidenza in età giovanile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Prevalenza del 5.5% in Italia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Multifattoriale: fattori ambientali (infezione virale) e         genetici (HLA DR3/DR4)</a:t>
            </a:r>
          </a:p>
          <a:p>
            <a:pPr marL="457200" indent="-4572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8DBA2921-E3E3-F628-6651-A49A9AB50280}"/>
              </a:ext>
            </a:extLst>
          </p:cNvPr>
          <p:cNvSpPr txBox="1">
            <a:spLocks/>
          </p:cNvSpPr>
          <p:nvPr/>
        </p:nvSpPr>
        <p:spPr>
          <a:xfrm>
            <a:off x="2201873" y="190021"/>
            <a:ext cx="4740254" cy="1059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</a:t>
            </a:r>
          </a:p>
        </p:txBody>
      </p:sp>
      <p:sp>
        <p:nvSpPr>
          <p:cNvPr id="3" name="Freccia a destra 2"/>
          <p:cNvSpPr/>
          <p:nvPr/>
        </p:nvSpPr>
        <p:spPr>
          <a:xfrm>
            <a:off x="5275956" y="2243992"/>
            <a:ext cx="667643" cy="262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047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8DBA2921-E3E3-F628-6651-A49A9AB50280}"/>
              </a:ext>
            </a:extLst>
          </p:cNvPr>
          <p:cNvSpPr txBox="1">
            <a:spLocks/>
          </p:cNvSpPr>
          <p:nvPr/>
        </p:nvSpPr>
        <p:spPr>
          <a:xfrm>
            <a:off x="2201873" y="190021"/>
            <a:ext cx="4740254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Complicanze acute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54BEBB3-0ED5-0454-7901-28B0FFE14169}"/>
              </a:ext>
            </a:extLst>
          </p:cNvPr>
          <p:cNvSpPr txBox="1"/>
          <p:nvPr/>
        </p:nvSpPr>
        <p:spPr>
          <a:xfrm>
            <a:off x="348360" y="1180866"/>
            <a:ext cx="422364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Chetoacidosi diabetica e coma chetoacidosico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Ipoglicemia (iatrogena)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Iperglicemia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magine 5" descr="Immagine che contiene testo, diagramma, Carattere, schermata&#10;&#10;Descrizione generata automaticamente">
            <a:extLst>
              <a:ext uri="{FF2B5EF4-FFF2-40B4-BE49-F238E27FC236}">
                <a16:creationId xmlns:a16="http://schemas.microsoft.com/office/drawing/2014/main" id="{14762C77-59C5-4157-C0A7-B5DB66D6F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835" y="1240127"/>
            <a:ext cx="4026583" cy="4933653"/>
          </a:xfrm>
          <a:prstGeom prst="rect">
            <a:avLst/>
          </a:prstGeom>
        </p:spPr>
      </p:pic>
      <p:pic>
        <p:nvPicPr>
          <p:cNvPr id="12" name="Immagine 11" descr="Immagine che contiene testo, cartone animato, grafica, Arte bambini&#10;&#10;Descrizione generata automaticamente">
            <a:extLst>
              <a:ext uri="{FF2B5EF4-FFF2-40B4-BE49-F238E27FC236}">
                <a16:creationId xmlns:a16="http://schemas.microsoft.com/office/drawing/2014/main" id="{26583A80-D230-8DA6-2875-8BBEE5980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6" y="4104743"/>
            <a:ext cx="3327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98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A24C-7EE3-92B4-EE36-715B703F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EB5682B2-6653-BEE4-4004-83807FF1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89" y="1074509"/>
            <a:ext cx="4708981" cy="4708981"/>
          </a:xfrm>
          <a:prstGeom prst="rect">
            <a:avLst/>
          </a:prstGeo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1CD39473-66F2-5BA3-3AB7-7A2E47EE22CD}"/>
              </a:ext>
            </a:extLst>
          </p:cNvPr>
          <p:cNvSpPr txBox="1">
            <a:spLocks/>
          </p:cNvSpPr>
          <p:nvPr/>
        </p:nvSpPr>
        <p:spPr>
          <a:xfrm>
            <a:off x="2201873" y="190021"/>
            <a:ext cx="4740254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Complicanze croniche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31D518A-093F-CC1A-8583-DF359FC3905C}"/>
              </a:ext>
            </a:extLst>
          </p:cNvPr>
          <p:cNvSpPr txBox="1"/>
          <p:nvPr/>
        </p:nvSpPr>
        <p:spPr>
          <a:xfrm>
            <a:off x="454200" y="1270659"/>
            <a:ext cx="429935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Complicanze microvascolari (++)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(retinopatia, neuropatia   e nefropatia) </a:t>
            </a:r>
          </a:p>
          <a:p>
            <a:pPr marL="457200" indent="-457200" algn="just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Complicanze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macrovascolari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(cardiopatia ischemica, malattia cerebrovascolare, arteriopatia periferica)</a:t>
            </a:r>
          </a:p>
          <a:p>
            <a:pPr algn="just"/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4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DEB6800-9381-A0AA-E194-33DC35117583}"/>
              </a:ext>
            </a:extLst>
          </p:cNvPr>
          <p:cNvSpPr txBox="1">
            <a:spLocks/>
          </p:cNvSpPr>
          <p:nvPr/>
        </p:nvSpPr>
        <p:spPr>
          <a:xfrm>
            <a:off x="2052320" y="89298"/>
            <a:ext cx="5207203" cy="789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- Clinica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2052320" y="1132596"/>
            <a:ext cx="548491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Iperglicemia</a:t>
            </a:r>
          </a:p>
        </p:txBody>
      </p:sp>
      <p:pic>
        <p:nvPicPr>
          <p:cNvPr id="7" name="Immagine 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3348774B-5BA3-5436-233B-23394D81F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97" y="2359264"/>
            <a:ext cx="5568841" cy="3842257"/>
          </a:xfrm>
          <a:prstGeom prst="rect">
            <a:avLst/>
          </a:prstGeom>
        </p:spPr>
      </p:pic>
      <p:sp>
        <p:nvSpPr>
          <p:cNvPr id="8" name="Freccia giù 7">
            <a:extLst>
              <a:ext uri="{FF2B5EF4-FFF2-40B4-BE49-F238E27FC236}">
                <a16:creationId xmlns:a16="http://schemas.microsoft.com/office/drawing/2014/main" id="{5DBCE0AB-C67E-B5EE-68BE-DB6012614746}"/>
              </a:ext>
            </a:extLst>
          </p:cNvPr>
          <p:cNvSpPr/>
          <p:nvPr/>
        </p:nvSpPr>
        <p:spPr>
          <a:xfrm>
            <a:off x="4329681" y="1656292"/>
            <a:ext cx="503576" cy="6409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1606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9DEB6800-9381-A0AA-E194-33DC35117583}"/>
              </a:ext>
            </a:extLst>
          </p:cNvPr>
          <p:cNvSpPr txBox="1">
            <a:spLocks/>
          </p:cNvSpPr>
          <p:nvPr/>
        </p:nvSpPr>
        <p:spPr>
          <a:xfrm>
            <a:off x="2299033" y="418892"/>
            <a:ext cx="5656252" cy="822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- Diagnosi</a:t>
            </a:r>
          </a:p>
        </p:txBody>
      </p:sp>
      <p:pic>
        <p:nvPicPr>
          <p:cNvPr id="3" name="Picture 4" descr="Doctor Looking Magnifying Glass Stock Illustrations – 268 Doctor Looking  Magnifying Glass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8" t="10422" r="8502"/>
          <a:stretch/>
        </p:blipFill>
        <p:spPr bwMode="auto">
          <a:xfrm>
            <a:off x="6258250" y="2435156"/>
            <a:ext cx="2215190" cy="352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/>
          <p:cNvSpPr txBox="1"/>
          <p:nvPr/>
        </p:nvSpPr>
        <p:spPr>
          <a:xfrm>
            <a:off x="780369" y="1545698"/>
            <a:ext cx="5477881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posta con:</a:t>
            </a:r>
          </a:p>
          <a:p>
            <a:pPr>
              <a:lnSpc>
                <a:spcPct val="150000"/>
              </a:lnSpc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Glicemia a digiuno ≥ 126 mg/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Glicemia ≥ 200 mg/</a:t>
            </a:r>
            <a:r>
              <a:rPr lang="it-I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2 ore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dopo carico orale di glucosio (OGTT)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Glicemia random ≥ 200 mg/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 sintomi classici 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(poliuria, polidipsia, perdita di peso)</a:t>
            </a: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HbA1c ≥ 6,5%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8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0CE9DA-4787-221F-A034-2B6F5101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09740"/>
            <a:ext cx="7886700" cy="1883888"/>
          </a:xfrm>
        </p:spPr>
        <p:txBody>
          <a:bodyPr>
            <a:normAutofit fontScale="90000"/>
          </a:bodyPr>
          <a:lstStyle/>
          <a:p>
            <a:pPr algn="ctr"/>
            <a:r>
              <a:rPr lang="it-IT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bel giorno di settembre del 2022 giunge presso il nostro Centro…</a:t>
            </a:r>
          </a:p>
        </p:txBody>
      </p:sp>
    </p:spTree>
    <p:extLst>
      <p:ext uri="{BB962C8B-B14F-4D97-AF65-F5344CB8AC3E}">
        <p14:creationId xmlns:p14="http://schemas.microsoft.com/office/powerpoint/2010/main" val="40278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0FDA918-D74A-705A-A79A-F28B4C2011BA}"/>
              </a:ext>
            </a:extLst>
          </p:cNvPr>
          <p:cNvSpPr txBox="1">
            <a:spLocks/>
          </p:cNvSpPr>
          <p:nvPr/>
        </p:nvSpPr>
        <p:spPr>
          <a:xfrm>
            <a:off x="2201873" y="190021"/>
            <a:ext cx="4740254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a riposo</a:t>
            </a:r>
          </a:p>
        </p:txBody>
      </p:sp>
      <p:pic>
        <p:nvPicPr>
          <p:cNvPr id="7" name="Immagine 6" descr="Immagine che contiene testo, diagramma, calligrafia, documento&#10;&#10;Descrizione generata automaticamente">
            <a:extLst>
              <a:ext uri="{FF2B5EF4-FFF2-40B4-BE49-F238E27FC236}">
                <a16:creationId xmlns:a16="http://schemas.microsoft.com/office/drawing/2014/main" id="{D623F567-D882-3B35-E75A-463C6FB77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23" y="910090"/>
            <a:ext cx="8335741" cy="566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4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3A51308E-87CB-A860-3A8D-C77A3700BEF8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B1BB708-F613-1D37-5112-ACD135E55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0" y="802851"/>
            <a:ext cx="7948534" cy="596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9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3A51308E-87CB-A860-3A8D-C77A3700BEF8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sp>
        <p:nvSpPr>
          <p:cNvPr id="11" name="Rettangolo 10"/>
          <p:cNvSpPr/>
          <p:nvPr/>
        </p:nvSpPr>
        <p:spPr>
          <a:xfrm>
            <a:off x="2448118" y="5825987"/>
            <a:ext cx="4340860" cy="7924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arrotondato 4"/>
          <p:cNvSpPr/>
          <p:nvPr/>
        </p:nvSpPr>
        <p:spPr>
          <a:xfrm>
            <a:off x="647889" y="1859280"/>
            <a:ext cx="1922591" cy="3962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29B840D-F820-0149-327D-15084AD12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47" y="715721"/>
            <a:ext cx="8189705" cy="614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6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3A51308E-87CB-A860-3A8D-C77A3700BEF8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312697E-1F6B-4090-983E-E9BF695FE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29" y="633275"/>
            <a:ext cx="8174636" cy="61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89617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3A51308E-87CB-A860-3A8D-C77A3700BEF8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615741-92A4-7C44-3386-8BB01614D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84" y="690148"/>
            <a:ext cx="7874032" cy="590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609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/>
            </p:par>
            <p:par>
              <p:cTn id="3"/>
            </p:par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1C85C-B6F3-5B9B-4BF8-F0C29FBE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3D616D9D-0CB0-D060-F734-2B3BCC4555A6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2BA8390-58DD-46D8-2413-CFDA37F07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62" y="813817"/>
            <a:ext cx="8274570" cy="62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65436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AB596-CEA4-DCA0-4AF4-29461107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9DB4E5E8-F1EE-4EA1-A78E-D30392ADA243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940BF7D-86D0-7D36-27CB-CAF190B1F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8" y="667062"/>
            <a:ext cx="8254584" cy="61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97014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7580E-8C85-F82E-1035-57BDCCAD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68CC1B59-D69D-6A06-5ADE-46B748C45F3B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9F99FC7-99C0-B2DA-C6BA-0E1FBFF99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3" y="715721"/>
            <a:ext cx="8064708" cy="60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87223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FD1F3-86F9-A678-6105-C16CCAA5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1369396F-6FFF-D84A-E133-47452717AF68}"/>
              </a:ext>
            </a:extLst>
          </p:cNvPr>
          <p:cNvSpPr txBox="1">
            <a:spLocks/>
          </p:cNvSpPr>
          <p:nvPr/>
        </p:nvSpPr>
        <p:spPr>
          <a:xfrm>
            <a:off x="331470" y="93748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Ecocardiogramma mono-bi-tridimensionale e color-Doppler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6F18CAF-537B-D39E-9651-3079C5D5B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36" y="738206"/>
            <a:ext cx="8034728" cy="602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88621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9C41A69F-0F5B-B99D-4F93-11EE340AF0E5}"/>
              </a:ext>
            </a:extLst>
          </p:cNvPr>
          <p:cNvSpPr txBox="1">
            <a:spLocks/>
          </p:cNvSpPr>
          <p:nvPr/>
        </p:nvSpPr>
        <p:spPr>
          <a:xfrm>
            <a:off x="284922" y="415004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- Settembre 2022</a:t>
            </a:r>
          </a:p>
          <a:p>
            <a:pPr algn="ctr"/>
            <a:endParaRPr lang="it-IT" sz="3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CEE239A-A93B-E03E-F739-2C3D80E0D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7" y="986100"/>
            <a:ext cx="8856284" cy="488579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4DBB40-FDE6-3390-1F32-8363D0F8B996}"/>
              </a:ext>
            </a:extLst>
          </p:cNvPr>
          <p:cNvSpPr txBox="1"/>
          <p:nvPr/>
        </p:nvSpPr>
        <p:spPr>
          <a:xfrm>
            <a:off x="284922" y="59479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345560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FDC9-8C1D-B396-4F64-BEE50C82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bianco e nero, Carattere, documento&#10;&#10;Descrizione generata automaticamente">
            <a:extLst>
              <a:ext uri="{FF2B5EF4-FFF2-40B4-BE49-F238E27FC236}">
                <a16:creationId xmlns:a16="http://schemas.microsoft.com/office/drawing/2014/main" id="{DFC2FA79-887D-460C-D97C-393303196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16" y="910089"/>
            <a:ext cx="8836084" cy="5176385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71D4E66-2056-A168-210F-D0EB8AA90B02}"/>
              </a:ext>
            </a:extLst>
          </p:cNvPr>
          <p:cNvSpPr txBox="1"/>
          <p:nvPr/>
        </p:nvSpPr>
        <p:spPr>
          <a:xfrm>
            <a:off x="4627014" y="6298647"/>
            <a:ext cx="164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1,20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A0CA99C-5E04-141C-4666-F02B8113E00C}"/>
              </a:ext>
            </a:extLst>
          </p:cNvPr>
          <p:cNvSpPr txBox="1"/>
          <p:nvPr/>
        </p:nvSpPr>
        <p:spPr>
          <a:xfrm>
            <a:off x="6275907" y="6298647"/>
            <a:ext cx="2757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FCmax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157 bpm (98%)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9C41A69F-0F5B-B99D-4F93-11EE340AF0E5}"/>
              </a:ext>
            </a:extLst>
          </p:cNvPr>
          <p:cNvSpPr txBox="1">
            <a:spLocks/>
          </p:cNvSpPr>
          <p:nvPr/>
        </p:nvSpPr>
        <p:spPr>
          <a:xfrm>
            <a:off x="284922" y="415004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- Settembre 2022</a:t>
            </a:r>
          </a:p>
          <a:p>
            <a:pPr algn="ctr"/>
            <a:endParaRPr lang="it-IT" sz="3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69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9C41A69F-0F5B-B99D-4F93-11EE340AF0E5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al Cicloergometro</a:t>
            </a: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3"/>
          <a:srcRect l="30415"/>
          <a:stretch/>
        </p:blipFill>
        <p:spPr>
          <a:xfrm>
            <a:off x="5657850" y="4721818"/>
            <a:ext cx="71437" cy="109737"/>
          </a:xfrm>
          <a:prstGeom prst="rect">
            <a:avLst/>
          </a:prstGeom>
        </p:spPr>
      </p:pic>
      <p:pic>
        <p:nvPicPr>
          <p:cNvPr id="10" name="Immagine 9" descr="Immagine che contiene testo, numero, ricevuta, schermata&#10;&#10;Descrizione generata automaticamente">
            <a:extLst>
              <a:ext uri="{FF2B5EF4-FFF2-40B4-BE49-F238E27FC236}">
                <a16:creationId xmlns:a16="http://schemas.microsoft.com/office/drawing/2014/main" id="{1C06F643-D3F5-B9F9-3173-663F58771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74" y="859126"/>
            <a:ext cx="7223849" cy="5998874"/>
          </a:xfrm>
          <a:prstGeom prst="rect">
            <a:avLst/>
          </a:prstGeom>
        </p:spPr>
      </p:pic>
      <p:sp>
        <p:nvSpPr>
          <p:cNvPr id="15" name="Cornice 14">
            <a:extLst>
              <a:ext uri="{FF2B5EF4-FFF2-40B4-BE49-F238E27FC236}">
                <a16:creationId xmlns:a16="http://schemas.microsoft.com/office/drawing/2014/main" id="{FA2061E1-52B3-79B9-083E-6E2619B43F0C}"/>
              </a:ext>
            </a:extLst>
          </p:cNvPr>
          <p:cNvSpPr/>
          <p:nvPr/>
        </p:nvSpPr>
        <p:spPr>
          <a:xfrm>
            <a:off x="5838802" y="2471422"/>
            <a:ext cx="293914" cy="212272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7" name="Cornice 16">
            <a:extLst>
              <a:ext uri="{FF2B5EF4-FFF2-40B4-BE49-F238E27FC236}">
                <a16:creationId xmlns:a16="http://schemas.microsoft.com/office/drawing/2014/main" id="{2A3EBBDB-1B7B-5331-0FA7-7D4DAF5CA0A2}"/>
              </a:ext>
            </a:extLst>
          </p:cNvPr>
          <p:cNvSpPr/>
          <p:nvPr/>
        </p:nvSpPr>
        <p:spPr>
          <a:xfrm>
            <a:off x="6616337" y="5341068"/>
            <a:ext cx="1273629" cy="44087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67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52B4-2682-8078-9352-9005A147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A91D2E7D-4ED9-4BF1-B0EF-C7E0A83CBF3A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Prescrizione dell’esercizio fisico</a:t>
            </a:r>
          </a:p>
        </p:txBody>
      </p:sp>
      <p:pic>
        <p:nvPicPr>
          <p:cNvPr id="3" name="Immagine 2" descr="Immagine che contiene testo, schermata, ricevuta, Carattere&#10;&#10;Descrizione generata automaticamente">
            <a:extLst>
              <a:ext uri="{FF2B5EF4-FFF2-40B4-BE49-F238E27FC236}">
                <a16:creationId xmlns:a16="http://schemas.microsoft.com/office/drawing/2014/main" id="{09E1C357-3CA2-0FE1-BB59-3B6F4855B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06" y="1098374"/>
            <a:ext cx="5698144" cy="4370137"/>
          </a:xfrm>
          <a:prstGeom prst="rect">
            <a:avLst/>
          </a:prstGeom>
        </p:spPr>
      </p:pic>
      <p:pic>
        <p:nvPicPr>
          <p:cNvPr id="6" name="Immagine 5" descr="Immagine che contiene testo, schermata, documento, numero&#10;&#10;Descrizione generata automaticamente">
            <a:extLst>
              <a:ext uri="{FF2B5EF4-FFF2-40B4-BE49-F238E27FC236}">
                <a16:creationId xmlns:a16="http://schemas.microsoft.com/office/drawing/2014/main" id="{99147DA2-FC87-9291-8124-4268C2C00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726" y="1945919"/>
            <a:ext cx="5363065" cy="437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50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501E-A692-E3C3-397F-1DD86853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32976F87-466D-0E60-02C9-0B21A21F5310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– Novembre 2023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3B12FDA-4135-91CF-2A15-7B42047A0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2" y="910090"/>
            <a:ext cx="8743464" cy="516715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88CCF67-DBFE-4E18-658B-0E6A5F006945}"/>
              </a:ext>
            </a:extLst>
          </p:cNvPr>
          <p:cNvSpPr txBox="1"/>
          <p:nvPr/>
        </p:nvSpPr>
        <p:spPr>
          <a:xfrm>
            <a:off x="284922" y="607724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2417677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BA69-F39D-C348-2829-172D25C1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Rettangolo, modello&#10;&#10;Descrizione generata automaticamente">
            <a:extLst>
              <a:ext uri="{FF2B5EF4-FFF2-40B4-BE49-F238E27FC236}">
                <a16:creationId xmlns:a16="http://schemas.microsoft.com/office/drawing/2014/main" id="{CEBFAB29-1111-F8FD-E5C9-6ED952598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2" y="811001"/>
            <a:ext cx="8574154" cy="5147482"/>
          </a:xfrm>
          <a:prstGeom prst="rect">
            <a:avLst/>
          </a:prstGeom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32976F87-466D-0E60-02C9-0B21A21F5310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– Novembre 2023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8CCF67-DBFE-4E18-658B-0E6A5F006945}"/>
              </a:ext>
            </a:extLst>
          </p:cNvPr>
          <p:cNvSpPr txBox="1"/>
          <p:nvPr/>
        </p:nvSpPr>
        <p:spPr>
          <a:xfrm>
            <a:off x="284922" y="6077243"/>
            <a:ext cx="811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Acme</a:t>
            </a:r>
          </a:p>
        </p:txBody>
      </p:sp>
    </p:spTree>
    <p:extLst>
      <p:ext uri="{BB962C8B-B14F-4D97-AF65-F5344CB8AC3E}">
        <p14:creationId xmlns:p14="http://schemas.microsoft.com/office/powerpoint/2010/main" val="135651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4F5E-66EB-270A-8A74-63E6785F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A472B972-60E8-7E9D-5B6B-5E15A6A57A2D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 sforzo Cardiopolmonare al Cicloergometro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6754FA2-B4F5-8475-DA6F-887C042449FD}"/>
              </a:ext>
            </a:extLst>
          </p:cNvPr>
          <p:cNvSpPr txBox="1"/>
          <p:nvPr/>
        </p:nvSpPr>
        <p:spPr>
          <a:xfrm>
            <a:off x="3436816" y="5958483"/>
            <a:ext cx="1843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Novembre 2023</a:t>
            </a:r>
            <a:endParaRPr lang="it-I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36A842-C6D2-4496-CBF0-0678AF0D7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00" y="762105"/>
            <a:ext cx="6887065" cy="6095895"/>
          </a:xfrm>
          <a:prstGeom prst="rect">
            <a:avLst/>
          </a:prstGeom>
        </p:spPr>
      </p:pic>
      <p:sp>
        <p:nvSpPr>
          <p:cNvPr id="5" name="Cornice 4">
            <a:extLst>
              <a:ext uri="{FF2B5EF4-FFF2-40B4-BE49-F238E27FC236}">
                <a16:creationId xmlns:a16="http://schemas.microsoft.com/office/drawing/2014/main" id="{ACB1EE0E-EAD6-231A-55C8-D9338F5DB8E1}"/>
              </a:ext>
            </a:extLst>
          </p:cNvPr>
          <p:cNvSpPr/>
          <p:nvPr/>
        </p:nvSpPr>
        <p:spPr>
          <a:xfrm>
            <a:off x="5267302" y="2471422"/>
            <a:ext cx="293914" cy="212272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" name="Cornice 5">
            <a:extLst>
              <a:ext uri="{FF2B5EF4-FFF2-40B4-BE49-F238E27FC236}">
                <a16:creationId xmlns:a16="http://schemas.microsoft.com/office/drawing/2014/main" id="{C1474182-964D-92B3-C051-3AA1CFEFCFBF}"/>
              </a:ext>
            </a:extLst>
          </p:cNvPr>
          <p:cNvSpPr/>
          <p:nvPr/>
        </p:nvSpPr>
        <p:spPr>
          <a:xfrm>
            <a:off x="5976257" y="5104849"/>
            <a:ext cx="1643743" cy="419652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933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0CE9DA-4787-221F-A034-2B6F5101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69" y="1239631"/>
            <a:ext cx="7153911" cy="994172"/>
          </a:xfrm>
        </p:spPr>
        <p:txBody>
          <a:bodyPr>
            <a:noAutofit/>
          </a:bodyPr>
          <a:lstStyle/>
          <a:p>
            <a:pPr algn="ctr"/>
            <a:r>
              <a:rPr lang="it-IT" sz="5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fisica,          cosa dice la letteratura?</a:t>
            </a:r>
          </a:p>
        </p:txBody>
      </p:sp>
      <p:pic>
        <p:nvPicPr>
          <p:cNvPr id="2050" name="Picture 2" descr="Football Player Young Cliparts, Stock Vector and Royalty Free Football  Player Young Illustrations">
            <a:extLst>
              <a:ext uri="{FF2B5EF4-FFF2-40B4-BE49-F238E27FC236}">
                <a16:creationId xmlns:a16="http://schemas.microsoft.com/office/drawing/2014/main" id="{0D03EBCB-BBB4-F942-D766-E14BD6D0D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27"/>
          <a:stretch/>
        </p:blipFill>
        <p:spPr bwMode="auto">
          <a:xfrm flipH="1">
            <a:off x="2626848" y="3242263"/>
            <a:ext cx="3682511" cy="314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55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9C41A69F-0F5B-B99D-4F93-11EE340AF0E5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5EC49EC-FFFF-C12D-B6BD-13E686E3CD5B}"/>
              </a:ext>
            </a:extLst>
          </p:cNvPr>
          <p:cNvSpPr/>
          <p:nvPr/>
        </p:nvSpPr>
        <p:spPr>
          <a:xfrm>
            <a:off x="6488946" y="1849164"/>
            <a:ext cx="622998" cy="21101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1A64680-A42E-E5C1-79A2-A359043152E4}"/>
              </a:ext>
            </a:extLst>
          </p:cNvPr>
          <p:cNvSpPr/>
          <p:nvPr/>
        </p:nvSpPr>
        <p:spPr>
          <a:xfrm>
            <a:off x="6228273" y="3599173"/>
            <a:ext cx="667108" cy="21101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11442265-FFB6-7496-74B0-38469234C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49" y="974180"/>
            <a:ext cx="64643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0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9C41A69F-0F5B-B99D-4F93-11EE340AF0E5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361387" y="1124194"/>
            <a:ext cx="3873383" cy="32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certificato d’idoneità agonistica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rilasciato previa presentazione del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nulla osta diabetologico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attestante lo stato di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malattia diabetica compensata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nonché la condizione ottimale di autocontrollo e terapia da parte del soggetto.</a:t>
            </a:r>
          </a:p>
          <a:p>
            <a:pPr algn="just">
              <a:lnSpc>
                <a:spcPct val="150000"/>
              </a:lnSpc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magine 9" descr="Immagine che contiene testo, schermata, Carattere, documento&#10;&#10;Descrizione generata automaticamente">
            <a:extLst>
              <a:ext uri="{FF2B5EF4-FFF2-40B4-BE49-F238E27FC236}">
                <a16:creationId xmlns:a16="http://schemas.microsoft.com/office/drawing/2014/main" id="{4E040E78-07E7-B7A6-6599-246C50171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48" y="1132637"/>
            <a:ext cx="4576102" cy="4803706"/>
          </a:xfrm>
          <a:prstGeom prst="rect">
            <a:avLst/>
          </a:prstGeom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4C4118D-D11C-D0B3-09D0-2970265802C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2" y="4368800"/>
            <a:ext cx="3949848" cy="15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09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8CB5-BD52-9C72-E457-CA29AACF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5E6B4002-2936-2C2A-B20F-A01984997870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pic>
        <p:nvPicPr>
          <p:cNvPr id="7" name="Immagine 6" descr="Immagine che contiene testo, Carattere, schermata, documento&#10;&#10;Descrizione generata automaticamente">
            <a:extLst>
              <a:ext uri="{FF2B5EF4-FFF2-40B4-BE49-F238E27FC236}">
                <a16:creationId xmlns:a16="http://schemas.microsoft.com/office/drawing/2014/main" id="{972A4F20-C671-0536-3FE3-563006D63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417" y="3429000"/>
            <a:ext cx="5749164" cy="3028365"/>
          </a:xfrm>
          <a:prstGeom prst="rect">
            <a:avLst/>
          </a:prstGeom>
        </p:spPr>
      </p:pic>
      <p:pic>
        <p:nvPicPr>
          <p:cNvPr id="9" name="Immagine 8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B47D5000-90F2-80CE-F526-659228EA3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011" y="1090753"/>
            <a:ext cx="6192838" cy="236819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49A927B-808F-CBF4-2A4B-0AC0CD290BEE}"/>
              </a:ext>
            </a:extLst>
          </p:cNvPr>
          <p:cNvSpPr txBox="1"/>
          <p:nvPr/>
        </p:nvSpPr>
        <p:spPr>
          <a:xfrm>
            <a:off x="1425678" y="1090754"/>
            <a:ext cx="271739" cy="2745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it-IT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426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360A-41CE-D753-D800-1A949329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sport, Forma fisica, persona, muscolo&#10;&#10;Descrizione generata automaticamente">
            <a:extLst>
              <a:ext uri="{FF2B5EF4-FFF2-40B4-BE49-F238E27FC236}">
                <a16:creationId xmlns:a16="http://schemas.microsoft.com/office/drawing/2014/main" id="{64AB32EC-FFBF-6358-3818-FB0589F7B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693" y="1153332"/>
            <a:ext cx="3043384" cy="3660105"/>
          </a:xfrm>
          <a:prstGeom prst="rect">
            <a:avLst/>
          </a:prstGeom>
        </p:spPr>
      </p:pic>
      <p:sp>
        <p:nvSpPr>
          <p:cNvPr id="10" name="Titolo 1">
            <a:extLst>
              <a:ext uri="{FF2B5EF4-FFF2-40B4-BE49-F238E27FC236}">
                <a16:creationId xmlns:a16="http://schemas.microsoft.com/office/drawing/2014/main" id="{21CD9C2D-521F-E111-7ACE-0EC8CA162786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con complicanze vascolari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B7ED66D-4C6D-F391-7AFD-E9E97488B4CB}"/>
              </a:ext>
            </a:extLst>
          </p:cNvPr>
          <p:cNvSpPr txBox="1"/>
          <p:nvPr/>
        </p:nvSpPr>
        <p:spPr>
          <a:xfrm>
            <a:off x="457642" y="1041572"/>
            <a:ext cx="5008438" cy="324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presenza di complicanze vascolari vanno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esclusi: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 di potenza</a:t>
            </a:r>
          </a:p>
          <a:p>
            <a:pPr algn="just">
              <a:lnSpc>
                <a:spcPct val="15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(sollevamento pesi, body building, pugilato e simili, karatè, lotta libera e greco-romana)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 da contatto </a:t>
            </a:r>
          </a:p>
          <a:p>
            <a:pPr algn="just">
              <a:lnSpc>
                <a:spcPct val="15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(pugilato, lotta, judo, sport motoristici)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magine 13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557456CC-F728-D90D-A641-265EF08126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2" y="3923217"/>
            <a:ext cx="5530771" cy="274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2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57D6-9F57-E8A2-5093-C18B66BF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D4F6A0D6-7611-8673-7907-F8B40C1C2F26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451BB5-480C-10A0-CE9A-D78A9CCC9B37}"/>
              </a:ext>
            </a:extLst>
          </p:cNvPr>
          <p:cNvSpPr txBox="1"/>
          <p:nvPr/>
        </p:nvSpPr>
        <p:spPr>
          <a:xfrm>
            <a:off x="365118" y="1146217"/>
            <a:ext cx="4410082" cy="5322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Miglioramento dei fattori di rischio cardiovascolari e aumento della sensibilità all’insulina con riduzione del fabbisogno insulinico esogeno (effetto cronico)</a:t>
            </a:r>
          </a:p>
          <a:p>
            <a:pPr algn="just">
              <a:lnSpc>
                <a:spcPct val="150000"/>
              </a:lnSpc>
            </a:pPr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Rischio maggiore: ipoglicemia </a:t>
            </a:r>
            <a:r>
              <a:rPr lang="it-I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insulino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-indotta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 descr="Immagine che contiene testo, schermata, grafica, design&#10;&#10;Descrizione generata automaticamente">
            <a:extLst>
              <a:ext uri="{FF2B5EF4-FFF2-40B4-BE49-F238E27FC236}">
                <a16:creationId xmlns:a16="http://schemas.microsoft.com/office/drawing/2014/main" id="{B07E701B-594C-C389-1043-1B4939CB7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349" y="1136057"/>
            <a:ext cx="3625728" cy="50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4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DC19-B39E-7E77-5F89-763F371A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04B0476F-EA2B-5F5D-AB55-A6B273450EC6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E903C5E7-8E0E-3142-7DBD-3C55DD03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289" y="190021"/>
            <a:ext cx="1090788" cy="109078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E2820EB-ECAC-2E7E-A469-328B5944040C}"/>
              </a:ext>
            </a:extLst>
          </p:cNvPr>
          <p:cNvSpPr txBox="1"/>
          <p:nvPr/>
        </p:nvSpPr>
        <p:spPr>
          <a:xfrm>
            <a:off x="284922" y="6253260"/>
            <a:ext cx="8540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Fernando Martin-Rivera, Sergio </a:t>
            </a:r>
            <a:r>
              <a:rPr lang="it-IT" sz="1100" dirty="0" err="1"/>
              <a:t>Maroto</a:t>
            </a:r>
            <a:r>
              <a:rPr lang="it-IT" sz="1100" dirty="0"/>
              <a:t>-Izquierdo, David García-López, Jesús </a:t>
            </a:r>
            <a:r>
              <a:rPr lang="it-IT" sz="1100" dirty="0" err="1"/>
              <a:t>Alarcón</a:t>
            </a:r>
            <a:r>
              <a:rPr lang="it-IT" sz="1100" dirty="0"/>
              <a:t>-Gómez, </a:t>
            </a:r>
            <a:r>
              <a:rPr lang="it-IT" sz="11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sz="1100" dirty="0" err="1"/>
              <a:t>Exercise</a:t>
            </a:r>
            <a:r>
              <a:rPr lang="it-IT" sz="1100" dirty="0"/>
              <a:t> </a:t>
            </a:r>
            <a:r>
              <a:rPr lang="it-IT" sz="1100" dirty="0" err="1"/>
              <a:t>interventions</a:t>
            </a:r>
            <a:r>
              <a:rPr lang="it-IT" sz="1100" dirty="0"/>
              <a:t> for </a:t>
            </a:r>
            <a:r>
              <a:rPr lang="it-IT" sz="1100" dirty="0" err="1"/>
              <a:t>patients</a:t>
            </a:r>
            <a:r>
              <a:rPr lang="it-IT" sz="1100" dirty="0"/>
              <a:t> with </a:t>
            </a:r>
            <a:r>
              <a:rPr lang="it-IT" sz="1100" dirty="0" err="1"/>
              <a:t>type</a:t>
            </a:r>
            <a:r>
              <a:rPr lang="it-IT" sz="1100" dirty="0"/>
              <a:t> 1 </a:t>
            </a:r>
            <a:r>
              <a:rPr lang="it-IT" sz="1100" dirty="0" err="1"/>
              <a:t>diabetes</a:t>
            </a:r>
            <a:r>
              <a:rPr lang="it-IT" sz="1100" dirty="0"/>
              <a:t> </a:t>
            </a:r>
            <a:r>
              <a:rPr lang="it-IT" sz="1100" dirty="0" err="1"/>
              <a:t>mellitus</a:t>
            </a:r>
            <a:r>
              <a:rPr lang="it-IT" sz="1100" dirty="0"/>
              <a:t>: A narrative review with </a:t>
            </a:r>
            <a:r>
              <a:rPr lang="it-IT" sz="1100" dirty="0" err="1"/>
              <a:t>practical</a:t>
            </a:r>
            <a:r>
              <a:rPr lang="it-IT" sz="1100" dirty="0"/>
              <a:t> </a:t>
            </a:r>
            <a:r>
              <a:rPr lang="it-IT" sz="1100" dirty="0" err="1"/>
              <a:t>recommendations</a:t>
            </a:r>
            <a:r>
              <a:rPr lang="it-IT" sz="11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World Journal of </a:t>
            </a:r>
            <a:r>
              <a:rPr lang="it-IT" sz="1100" b="0" i="0" dirty="0" err="1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Diabetes</a:t>
            </a:r>
            <a:r>
              <a:rPr lang="it-IT" sz="1100" b="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  <a:r>
              <a:rPr lang="it-IT" sz="1100" dirty="0"/>
              <a:t>2023 </a:t>
            </a:r>
            <a:r>
              <a:rPr lang="it-IT" sz="1100" dirty="0" err="1"/>
              <a:t>May</a:t>
            </a:r>
            <a:r>
              <a:rPr lang="it-IT" sz="1100" dirty="0"/>
              <a:t> 15; 14(5): 539-548</a:t>
            </a:r>
            <a:endParaRPr lang="it-IT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 descr="Immagine che contiene testo, schermata, Carattere, documento&#10;&#10;Descrizione generata automaticamente">
            <a:extLst>
              <a:ext uri="{FF2B5EF4-FFF2-40B4-BE49-F238E27FC236}">
                <a16:creationId xmlns:a16="http://schemas.microsoft.com/office/drawing/2014/main" id="{0BC5003F-6718-EBD9-5C91-FD90BB091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22" y="984250"/>
            <a:ext cx="7856996" cy="526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2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3642FCE5-2FF4-3123-2BDB-C715C1A03414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 mellito di tipo I e attività fisica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4B6445F-61D2-B3BB-B249-E5F894FB5E4C}"/>
              </a:ext>
            </a:extLst>
          </p:cNvPr>
          <p:cNvSpPr/>
          <p:nvPr/>
        </p:nvSpPr>
        <p:spPr>
          <a:xfrm>
            <a:off x="4938712" y="5153235"/>
            <a:ext cx="606482" cy="224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0B249A92-BEC5-8639-9F15-E51B5FFBB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07" y="1026204"/>
            <a:ext cx="8470770" cy="547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98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62D5A-3BE0-C47C-0E4A-7B4C53BF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4665413C-AF7C-21F8-EC49-EB039B90C240}"/>
              </a:ext>
            </a:extLst>
          </p:cNvPr>
          <p:cNvSpPr txBox="1">
            <a:spLocks/>
          </p:cNvSpPr>
          <p:nvPr/>
        </p:nvSpPr>
        <p:spPr>
          <a:xfrm>
            <a:off x="284922" y="190021"/>
            <a:ext cx="8574155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Insulina e doping</a:t>
            </a:r>
          </a:p>
        </p:txBody>
      </p:sp>
      <p:pic>
        <p:nvPicPr>
          <p:cNvPr id="6" name="Immagine 5" descr="Immagine che contiene Carattere, logo, cerchio, simbolo&#10;&#10;Descrizione generata automaticamente">
            <a:extLst>
              <a:ext uri="{FF2B5EF4-FFF2-40B4-BE49-F238E27FC236}">
                <a16:creationId xmlns:a16="http://schemas.microsoft.com/office/drawing/2014/main" id="{30BE5CB3-FC93-1B48-4010-D83A2BC15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372" y="190021"/>
            <a:ext cx="2269591" cy="2180588"/>
          </a:xfrm>
          <a:prstGeom prst="rect">
            <a:avLst/>
          </a:prstGeom>
        </p:spPr>
      </p:pic>
      <p:pic>
        <p:nvPicPr>
          <p:cNvPr id="10" name="Immagine 9" descr="Immagine che contiene testo, schermata, documento, Carattere&#10;&#10;Descrizione generata automaticamente">
            <a:extLst>
              <a:ext uri="{FF2B5EF4-FFF2-40B4-BE49-F238E27FC236}">
                <a16:creationId xmlns:a16="http://schemas.microsoft.com/office/drawing/2014/main" id="{BB18AC43-38DB-D60A-608A-25DE2802A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30" y="910090"/>
            <a:ext cx="5380228" cy="5757889"/>
          </a:xfrm>
          <a:prstGeom prst="rect">
            <a:avLst/>
          </a:prstGeom>
        </p:spPr>
      </p:pic>
      <p:pic>
        <p:nvPicPr>
          <p:cNvPr id="2050" name="Picture 2" descr="40+ Diabetes Type 1 Clip Art Stock Illustrations, Royalty-Free Vector  Graphics &amp; Clip Art - iStock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1" t="11270" r="3803" b="11619"/>
          <a:stretch/>
        </p:blipFill>
        <p:spPr bwMode="auto">
          <a:xfrm>
            <a:off x="6357258" y="3670300"/>
            <a:ext cx="27489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814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F9F0399-9A87-58B5-5F23-EC7EA45FAF0F}"/>
              </a:ext>
            </a:extLst>
          </p:cNvPr>
          <p:cNvSpPr txBox="1"/>
          <p:nvPr/>
        </p:nvSpPr>
        <p:spPr>
          <a:xfrm>
            <a:off x="386081" y="1617425"/>
            <a:ext cx="81178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esercizio fisico appropriato nei pazienti con Diabete mellito di tipo I migliora la sensibilità insulinica e riduce il rischio cardiovascolare</a:t>
            </a:r>
          </a:p>
          <a:p>
            <a:pPr marL="457200" indent="-457200"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Questa popolazione può beneficiare di un programma di 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prescrizione dell’esercizio fisico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strutturato, con una preliminare valutazione di eventuali complicanze</a:t>
            </a:r>
          </a:p>
          <a:p>
            <a:pPr marL="457200" indent="-457200"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personalizzazione dell’attività fisica è fondamentale per  ottimizzare i benefici e minimizzare i rischi 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CE1AB4-FBB1-2749-DBC7-F269947168B5}"/>
              </a:ext>
            </a:extLst>
          </p:cNvPr>
          <p:cNvSpPr txBox="1">
            <a:spLocks/>
          </p:cNvSpPr>
          <p:nvPr/>
        </p:nvSpPr>
        <p:spPr>
          <a:xfrm>
            <a:off x="1896868" y="223817"/>
            <a:ext cx="5350263" cy="749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Take-home </a:t>
            </a:r>
            <a:r>
              <a:rPr lang="it-IT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  <a:endParaRPr lang="it-IT" sz="36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 descr="Check List In The Notebook Isolated On White Vector Illustration Stock  Illustration - Download Image Now - iStock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476" y="71121"/>
            <a:ext cx="1412240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572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003A631E-6DD1-BB65-D172-74B780329A0E}"/>
              </a:ext>
            </a:extLst>
          </p:cNvPr>
          <p:cNvSpPr txBox="1">
            <a:spLocks/>
          </p:cNvSpPr>
          <p:nvPr/>
        </p:nvSpPr>
        <p:spPr>
          <a:xfrm>
            <a:off x="1958186" y="36696"/>
            <a:ext cx="5227627" cy="720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 ringrazio per l’attenzione!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B758DA7-E768-C1D7-7EA9-31753B0B70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4" t="39074" r="48433" b="14776"/>
          <a:stretch/>
        </p:blipFill>
        <p:spPr>
          <a:xfrm>
            <a:off x="4455886" y="692485"/>
            <a:ext cx="4528457" cy="375655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302E792-2EBC-43A0-B596-2F671494D6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71" t="32408" r="26146" b="19074"/>
          <a:stretch/>
        </p:blipFill>
        <p:spPr>
          <a:xfrm>
            <a:off x="353174" y="692485"/>
            <a:ext cx="4001112" cy="283424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CEF2721-4221-6F06-B275-364F2757F6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500" t="21802" r="37708" b="22963"/>
          <a:stretch/>
        </p:blipFill>
        <p:spPr>
          <a:xfrm>
            <a:off x="4455886" y="4523279"/>
            <a:ext cx="1773095" cy="2135723"/>
          </a:xfrm>
          <a:prstGeom prst="rect">
            <a:avLst/>
          </a:prstGeom>
        </p:spPr>
      </p:pic>
      <p:pic>
        <p:nvPicPr>
          <p:cNvPr id="10" name="Immagine 9" descr="Immagine che contiene vestiti, persona, interno, cappotto&#10;&#10;Descrizione generata automaticamente">
            <a:extLst>
              <a:ext uri="{FF2B5EF4-FFF2-40B4-BE49-F238E27FC236}">
                <a16:creationId xmlns:a16="http://schemas.microsoft.com/office/drawing/2014/main" id="{D9F4D6DA-1962-E6D1-2C00-4A866AD094F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74" y="3715657"/>
            <a:ext cx="4001112" cy="302792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1228560-2EF0-B55F-7707-013512A56E1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313" t="18703" r="30940" b="19630"/>
          <a:stretch/>
        </p:blipFill>
        <p:spPr>
          <a:xfrm>
            <a:off x="6232135" y="4629354"/>
            <a:ext cx="2752208" cy="192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3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9289</TotalTime>
  <Words>1857</Words>
  <Application>Microsoft Macintosh PowerPoint</Application>
  <PresentationFormat>Presentazione su schermo (4:3)</PresentationFormat>
  <Paragraphs>178</Paragraphs>
  <Slides>37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inherit</vt:lpstr>
      <vt:lpstr>Times New Roman</vt:lpstr>
      <vt:lpstr>Wingdings</vt:lpstr>
      <vt:lpstr>Tema di Office</vt:lpstr>
      <vt:lpstr>Presentazione standard di PowerPoint</vt:lpstr>
      <vt:lpstr>Caso clinico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Un bel giorno di settembre del 2022 giunge presso il nostro Centro…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Diabete mellito di tipo I e attività fisica,          cosa dice la letteratura?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Stefania Manes</dc:creator>
  <cp:lastModifiedBy>Mazda Sohrabian</cp:lastModifiedBy>
  <cp:revision>641</cp:revision>
  <dcterms:created xsi:type="dcterms:W3CDTF">2021-12-30T08:22:13Z</dcterms:created>
  <dcterms:modified xsi:type="dcterms:W3CDTF">2025-10-30T18:36:04Z</dcterms:modified>
</cp:coreProperties>
</file>