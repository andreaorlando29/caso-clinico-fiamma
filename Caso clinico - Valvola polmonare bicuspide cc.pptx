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j0Xy9A0FbNJgABKgdGsv+Cjx9U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 (bpm)</c:v>
                </c:pt>
              </c:strCache>
            </c:strRef>
          </c:tx>
          <c:spPr>
            <a:ln w="38100" cap="flat">
              <a:solidFill>
                <a:srgbClr val="FF6B3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Base</c:v>
                </c:pt>
                <c:pt idx="1">
                  <c:v>60W</c:v>
                </c:pt>
                <c:pt idx="2">
                  <c:v>120W</c:v>
                </c:pt>
                <c:pt idx="3">
                  <c:v>180W</c:v>
                </c:pt>
                <c:pt idx="4">
                  <c:v>240W</c:v>
                </c:pt>
                <c:pt idx="5">
                  <c:v>285W</c:v>
                </c:pt>
                <c:pt idx="6">
                  <c:v>R 1'</c:v>
                </c:pt>
                <c:pt idx="7">
                  <c:v>R 2'</c:v>
                </c:pt>
                <c:pt idx="8">
                  <c:v>R 4'</c:v>
                </c:pt>
                <c:pt idx="9">
                  <c:v>R 6'</c:v>
                </c:pt>
                <c:pt idx="10">
                  <c:v>R 10'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93</c:v>
                </c:pt>
                <c:pt idx="1">
                  <c:v>121</c:v>
                </c:pt>
                <c:pt idx="2">
                  <c:v>141</c:v>
                </c:pt>
                <c:pt idx="3">
                  <c:v>158</c:v>
                </c:pt>
                <c:pt idx="4">
                  <c:v>180</c:v>
                </c:pt>
                <c:pt idx="5">
                  <c:v>194</c:v>
                </c:pt>
                <c:pt idx="6">
                  <c:v>167</c:v>
                </c:pt>
                <c:pt idx="7">
                  <c:v>153</c:v>
                </c:pt>
                <c:pt idx="8">
                  <c:v>133</c:v>
                </c:pt>
                <c:pt idx="9">
                  <c:v>114</c:v>
                </c:pt>
                <c:pt idx="10">
                  <c:v>122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C09-41F0-A7E0-AD779C1B82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3"/>
                </a:solidFill>
                <a:latin typeface="Arial"/>
              </a:defRPr>
            </a:pPr>
            <a:endParaRPr lang="it-IT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10"/>
          <c:min val="60"/>
        </c:scaling>
        <c:delete val="0"/>
        <c:axPos val="l"/>
        <c:majorGridlines>
          <c:spPr>
            <a:ln w="12700" cap="flat">
              <a:solidFill>
                <a:srgbClr val="E8EC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A83"/>
                    </a:solidFill>
                    <a:latin typeface="Arial"/>
                  </a:defRPr>
                </a:pPr>
                <a:r>
                  <a:rPr lang="it-IT" sz="1000" b="0" i="0" u="none" strike="noStrike">
                    <a:solidFill>
                      <a:srgbClr val="6B7A83"/>
                    </a:solidFill>
                    <a:latin typeface="Arial"/>
                  </a:rPr>
                  <a:t>bpm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3"/>
                </a:solidFill>
                <a:latin typeface="Arial"/>
              </a:defRPr>
            </a:pPr>
            <a:endParaRPr lang="it-IT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VO2 (mL/kg/min)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09E-4C3B-82D3-EB635EDD5D81}"/>
              </c:ext>
            </c:extLst>
          </c:dPt>
          <c:dPt>
            <c:idx val="1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09E-4C3B-82D3-EB635EDD5D81}"/>
              </c:ext>
            </c:extLst>
          </c:dPt>
          <c:dPt>
            <c:idx val="2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09E-4C3B-82D3-EB635EDD5D81}"/>
              </c:ext>
            </c:extLst>
          </c:dPt>
          <c:dPt>
            <c:idx val="3"/>
            <c:invertIfNegative val="0"/>
            <c:bubble3D val="0"/>
            <c:spPr>
              <a:solidFill>
                <a:srgbClr val="0A2E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09E-4C3B-82D3-EB635EDD5D81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A2E4D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Riposo</c:v>
                </c:pt>
                <c:pt idx="1">
                  <c:v>VT1</c:v>
                </c:pt>
                <c:pt idx="2">
                  <c:v>VT2</c:v>
                </c:pt>
                <c:pt idx="3">
                  <c:v>Picco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5.5</c:v>
                </c:pt>
                <c:pt idx="1">
                  <c:v>20.3</c:v>
                </c:pt>
                <c:pt idx="2">
                  <c:v>39</c:v>
                </c:pt>
                <c:pt idx="3">
                  <c:v>44.6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09E-4C3B-82D3-EB635EDD5D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A2530"/>
                </a:solidFill>
                <a:latin typeface="Arial"/>
              </a:defRPr>
            </a:pPr>
            <a:endParaRPr lang="it-IT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2"/>
          <c:min val="0"/>
        </c:scaling>
        <c:delete val="0"/>
        <c:axPos val="l"/>
        <c:majorGridlines>
          <c:spPr>
            <a:ln w="12700" cap="flat">
              <a:solidFill>
                <a:srgbClr val="E8EC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A83"/>
                    </a:solidFill>
                    <a:latin typeface="Arial"/>
                  </a:defRPr>
                </a:pPr>
                <a:r>
                  <a:rPr lang="it-IT" sz="1000" b="0" i="0" u="none" strike="noStrike">
                    <a:solidFill>
                      <a:srgbClr val="6B7A83"/>
                    </a:solidFill>
                    <a:latin typeface="Arial"/>
                  </a:rPr>
                  <a:t>mL O₂ / kg / min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3"/>
                </a:solidFill>
                <a:latin typeface="Arial"/>
              </a:defRPr>
            </a:pPr>
            <a:endParaRPr lang="it-IT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50118024b2c03704_0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h50118024b2c03704_0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h50118024b2c03704_0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6" name="Google Shape;41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3" name="Google Shape;47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4" name="Google Shape;514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6" name="Google Shape;556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6" name="Google Shape;586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h50118024b2c03704_0_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9" name="Google Shape;609;h50118024b2c03704_0_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h50118024b2c03704_0_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1"/>
          <p:cNvSpPr txBox="1"/>
          <p:nvPr>
            <p:ph type="ctrTitle"/>
          </p:nvPr>
        </p:nvSpPr>
        <p:spPr>
          <a:xfrm>
            <a:off x="914400" y="112236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23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2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chart" Target="../charts/chart1.xml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chart" Target="../charts/chart2.xml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5" Type="http://schemas.openxmlformats.org/officeDocument/2006/relationships/image" Target="../media/image7.png"/><Relationship Id="rId6" Type="http://schemas.openxmlformats.org/officeDocument/2006/relationships/image" Target="../media/image20.png"/><Relationship Id="rId7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2.png"/><Relationship Id="rId5" Type="http://schemas.openxmlformats.org/officeDocument/2006/relationships/image" Target="../media/image22.png"/><Relationship Id="rId6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"/>
          <p:cNvSpPr txBox="1"/>
          <p:nvPr>
            <p:ph type="ctrTitle"/>
          </p:nvPr>
        </p:nvSpPr>
        <p:spPr>
          <a:xfrm>
            <a:off x="2667000" y="4101851"/>
            <a:ext cx="6739818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Times New Roman"/>
              <a:buNone/>
            </a:pPr>
            <a:r>
              <a:rPr b="1" i="1" lang="en-US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SCUOLA DI SPECIALIZZAZIONE IN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Times New Roman"/>
              <a:buNone/>
            </a:pPr>
            <a:r>
              <a:rPr b="1" i="1" lang="en-US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MEDICINA DELLO SPORT E DELL’ESERCIZIO FISICO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Times New Roman"/>
              <a:buNone/>
            </a:pPr>
            <a:r>
              <a:rPr b="1" i="1" lang="en-US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(Direttore: Prof. Vincenzo Palmieri )</a:t>
            </a:r>
            <a:endParaRPr b="0" i="0" sz="1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Google Shape;24;p1"/>
          <p:cNvSpPr txBox="1"/>
          <p:nvPr>
            <p:ph idx="1" type="subTitle"/>
          </p:nvPr>
        </p:nvSpPr>
        <p:spPr>
          <a:xfrm>
            <a:off x="2667000" y="2397254"/>
            <a:ext cx="6858000" cy="1411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None/>
            </a:pPr>
            <a:r>
              <a:rPr b="1" i="1" lang="en-US" sz="5400">
                <a:solidFill>
                  <a:srgbClr val="C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Un</a:t>
            </a:r>
            <a:r>
              <a:rPr i="1" lang="en-US" sz="5400">
                <a:solidFill>
                  <a:srgbClr val="C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1" lang="en-US" sz="5400">
                <a:solidFill>
                  <a:srgbClr val="C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passato</a:t>
            </a:r>
            <a:r>
              <a:rPr i="1" lang="en-US" sz="5400">
                <a:solidFill>
                  <a:srgbClr val="C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1" lang="en-US" sz="5400">
                <a:solidFill>
                  <a:srgbClr val="C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scomodo</a:t>
            </a:r>
            <a:endParaRPr/>
          </a:p>
        </p:txBody>
      </p:sp>
      <p:sp>
        <p:nvSpPr>
          <p:cNvPr id="25" name="Google Shape;25;p1"/>
          <p:cNvSpPr txBox="1"/>
          <p:nvPr/>
        </p:nvSpPr>
        <p:spPr>
          <a:xfrm>
            <a:off x="4086564" y="5068828"/>
            <a:ext cx="4018873" cy="726329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Roma, 12 ottobre 2026 -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Prova finale II anno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Anno Accademico 2023-2024</a:t>
            </a:r>
            <a:endParaRPr sz="1600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636060" y="923918"/>
            <a:ext cx="5601536" cy="605948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UNIVERSITÀ CATTOLICA DEL SACRO CUORE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Fondazione Policlinico Universitario "A. Gemelli" – IRCCS - Roma</a:t>
            </a:r>
            <a:endParaRPr sz="15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27;p1"/>
          <p:cNvPicPr preferRelativeResize="0"/>
          <p:nvPr/>
        </p:nvPicPr>
        <p:blipFill rotWithShape="1">
          <a:blip r:embed="rId3">
            <a:alphaModFix/>
          </a:blip>
          <a:srcRect b="-6165" l="76527" r="-998" t="-6932"/>
          <a:stretch/>
        </p:blipFill>
        <p:spPr>
          <a:xfrm>
            <a:off x="2407524" y="637215"/>
            <a:ext cx="1204035" cy="117935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 txBox="1"/>
          <p:nvPr/>
        </p:nvSpPr>
        <p:spPr>
          <a:xfrm>
            <a:off x="4937449" y="3586047"/>
            <a:ext cx="28712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Dott.ssa Fiamma Sohrabian</a:t>
            </a:r>
            <a:endParaRPr b="1" i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502920" y="1417320"/>
            <a:ext cx="6537960" cy="932688"/>
          </a:xfrm>
          <a:prstGeom prst="roundRect">
            <a:avLst>
              <a:gd fmla="val 11765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685800" y="1600200"/>
            <a:ext cx="566928" cy="566928"/>
          </a:xfrm>
          <a:prstGeom prst="ellipse">
            <a:avLst/>
          </a:prstGeom>
          <a:solidFill>
            <a:srgbClr val="0A2E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user.png"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73736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1417320" y="15361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Età / Sesso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417320" y="1801368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30 anni, sesso maschile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02920" y="2496312"/>
            <a:ext cx="6537960" cy="932688"/>
          </a:xfrm>
          <a:prstGeom prst="roundRect">
            <a:avLst>
              <a:gd fmla="val 11765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85800" y="2679192"/>
            <a:ext cx="566928" cy="566928"/>
          </a:xfrm>
          <a:prstGeom prst="ellipse">
            <a:avLst/>
          </a:prstGeom>
          <a:solidFill>
            <a:srgbClr val="0A2E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bike.png" id="41" name="Google Shape;4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281635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1417320" y="261518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Attività sportiva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417320" y="28803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Ciclismo a livello agonistico – soggetto allenato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02920" y="3575304"/>
            <a:ext cx="6537960" cy="932688"/>
          </a:xfrm>
          <a:prstGeom prst="roundRect">
            <a:avLst>
              <a:gd fmla="val 11765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85800" y="3758184"/>
            <a:ext cx="566928" cy="566928"/>
          </a:xfrm>
          <a:prstGeom prst="ellipse">
            <a:avLst/>
          </a:prstGeom>
          <a:solidFill>
            <a:srgbClr val="0A2E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clipboard.png" id="46" name="Google Shape;4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" y="389534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1417320" y="36941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Motivo della valutazione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417320" y="3959352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Idoneità sportiva in soggetto con valvulopatia polmonare congenita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02920" y="4654296"/>
            <a:ext cx="6537960" cy="914400"/>
          </a:xfrm>
          <a:prstGeom prst="roundRect">
            <a:avLst>
              <a:gd fmla="val 12000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502920" y="4727448"/>
            <a:ext cx="2179320" cy="4818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0A2E4D"/>
                </a:solidFill>
                <a:latin typeface="Cambria"/>
                <a:ea typeface="Cambria"/>
                <a:cs typeface="Cambria"/>
                <a:sym typeface="Cambria"/>
              </a:rPr>
              <a:t>71 kg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02920" y="5209337"/>
            <a:ext cx="2179320" cy="295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Peso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2682240" y="4727448"/>
            <a:ext cx="2179320" cy="4818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0A2E4D"/>
                </a:solidFill>
                <a:latin typeface="Cambria"/>
                <a:ea typeface="Cambria"/>
                <a:cs typeface="Cambria"/>
                <a:sym typeface="Cambria"/>
              </a:rPr>
              <a:t>184 cm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2682240" y="5209337"/>
            <a:ext cx="2179320" cy="295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Statura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861560" y="4727448"/>
            <a:ext cx="2179320" cy="4818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0A2E4D"/>
                </a:solidFill>
                <a:latin typeface="Cambria"/>
                <a:ea typeface="Cambria"/>
                <a:cs typeface="Cambria"/>
                <a:sym typeface="Cambria"/>
              </a:rPr>
              <a:t>21.0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861560" y="5209337"/>
            <a:ext cx="2179320" cy="295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BMI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7571232" y="1920240"/>
            <a:ext cx="3931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Diagnosi alla nascita di steno-insufficienza polmonare in valvola polmonare displastica (bicuspide), seguita nel tempo con follow-up cardiologico regolare.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571232" y="3666744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Graminacee; nessuna reazione a farmaci o mdc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7571232" y="423367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Nessuna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571232" y="480060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Assenti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Caso clinico – Valvola polmonare bicuspide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0591495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2 / 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4319174" y="257975"/>
            <a:ext cx="45039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b="1" i="1" lang="en-US" sz="4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Caso clinico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idx="1" type="body"/>
          </p:nvPr>
        </p:nvSpPr>
        <p:spPr>
          <a:xfrm>
            <a:off x="2501012" y="1572584"/>
            <a:ext cx="7595489" cy="4031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8194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Familiare: ipertensione (madre)</a:t>
            </a:r>
            <a:endParaRPr/>
          </a:p>
          <a:p>
            <a:pPr indent="-281940" lvl="0" marL="342900" rtl="0" algn="l">
              <a:lnSpc>
                <a:spcPct val="12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Patologica: </a:t>
            </a:r>
            <a:endParaRPr/>
          </a:p>
          <a:p>
            <a:pPr indent="-232410" lvl="1" marL="742950" rtl="0" algn="l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Frattura scafoide (mano sx)</a:t>
            </a:r>
            <a:endParaRPr/>
          </a:p>
          <a:p>
            <a:pPr indent="-232410" lvl="1" marL="742950" rtl="0" algn="l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Strabismo</a:t>
            </a:r>
            <a:endParaRPr/>
          </a:p>
          <a:p>
            <a:pPr indent="-232410" lvl="1" marL="742950" rtl="0" algn="l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Intervento per varicocele</a:t>
            </a:r>
            <a:endParaRPr/>
          </a:p>
          <a:p>
            <a:pPr indent="-232410" lvl="1" marL="742950" rtl="0" algn="l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Diagnosi alla nascita di valvola polmonare bicuspide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42950" rtl="0" algn="l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19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Char char="●"/>
            </a:pPr>
            <a:r>
              <a:rPr lang="en-US" sz="1200">
                <a:solidFill>
                  <a:srgbClr val="0D0D0D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Rari episodi sincopali, riferiti come verosimilmente neuromediati e correlati a dolore intenso</a:t>
            </a:r>
            <a:endParaRPr sz="1200">
              <a:solidFill>
                <a:srgbClr val="0D0D0D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742950" rtl="0" algn="l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7950" lvl="1" marL="742950" rtl="0" algn="l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7950" lvl="1" marL="742950" rtl="0" algn="l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4891344" y="257968"/>
            <a:ext cx="2273033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b="1" i="1" lang="en-US" sz="4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Anamnesi</a:t>
            </a:r>
            <a:endParaRPr/>
          </a:p>
        </p:txBody>
      </p:sp>
      <p:sp>
        <p:nvSpPr>
          <p:cNvPr id="70" name="Google Shape;70;p3"/>
          <p:cNvSpPr txBox="1"/>
          <p:nvPr/>
        </p:nvSpPr>
        <p:spPr>
          <a:xfrm>
            <a:off x="4282300" y="4951250"/>
            <a:ext cx="79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>
            <p:ph idx="1" type="body"/>
          </p:nvPr>
        </p:nvSpPr>
        <p:spPr>
          <a:xfrm>
            <a:off x="3281070" y="1492254"/>
            <a:ext cx="603885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Peso: 71 kg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Altezza: 184 cm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Reperto obiettivo cardiaco: </a:t>
            </a:r>
            <a:r>
              <a:rPr lang="en-US" sz="2200"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SS 2-3/6 polmonare</a:t>
            </a:r>
            <a:endParaRPr sz="2200"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PA: 135/85 mmHg</a:t>
            </a:r>
            <a:endParaRPr sz="2200"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Polsi: presenti, validi, isonormosfigmici</a:t>
            </a:r>
            <a:endParaRPr/>
          </a:p>
          <a:p>
            <a:pPr indent="-139700" lvl="0" marL="342900" rtl="0" algn="l">
              <a:lnSpc>
                <a:spcPct val="12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200">
                <a:solidFill>
                  <a:srgbClr val="0D0D0D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Si tratta quindi di un soggetto sostanzialmente asintomatico dal punto di vista cardiovascolare, ma sottoposto a un carico di endurance significativo e continuativo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4447590" y="298309"/>
            <a:ext cx="370581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b="1" i="1" lang="en-US" sz="4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Esame</a:t>
            </a:r>
            <a:r>
              <a:rPr i="1" lang="en-US" sz="4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1" lang="en-US" sz="4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obiettivo</a:t>
            </a:r>
            <a:endParaRPr/>
          </a:p>
        </p:txBody>
      </p:sp>
      <p:sp>
        <p:nvSpPr>
          <p:cNvPr descr="Medicina – Clinica Villa Delle Querce" id="77" name="Google Shape;77;p4"/>
          <p:cNvSpPr/>
          <p:nvPr/>
        </p:nvSpPr>
        <p:spPr>
          <a:xfrm>
            <a:off x="5577196" y="1775803"/>
            <a:ext cx="901329" cy="901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558" y="4180867"/>
            <a:ext cx="2809875" cy="16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assets/info.png" id="84" name="Google Shape;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21208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work/assets/pulmonary_diagram.png" id="85" name="Google Shape;8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1417320"/>
            <a:ext cx="10789920" cy="269748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1"/>
          <p:cNvSpPr/>
          <p:nvPr/>
        </p:nvSpPr>
        <p:spPr>
          <a:xfrm>
            <a:off x="502920" y="3849624"/>
            <a:ext cx="82296" cy="8229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1"/>
          <p:cNvSpPr/>
          <p:nvPr/>
        </p:nvSpPr>
        <p:spPr>
          <a:xfrm>
            <a:off x="758952" y="3721608"/>
            <a:ext cx="109298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Anomalia congenita molto rara della valvola polmonare, normalmente tricuspide; può presentarsi isolata o con steno-insufficienza di grado variabile.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/>
          <p:nvPr/>
        </p:nvSpPr>
        <p:spPr>
          <a:xfrm>
            <a:off x="502920" y="4334256"/>
            <a:ext cx="82296" cy="8229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1"/>
          <p:cNvSpPr/>
          <p:nvPr/>
        </p:nvSpPr>
        <p:spPr>
          <a:xfrm>
            <a:off x="758952" y="4206240"/>
            <a:ext cx="109298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Descritta in letteratura soprattutto attraverso singoli case report; il decorso clinico è generalmente benigno quando la stenosi/insufficienza resta di grado lieve.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1"/>
          <p:cNvSpPr/>
          <p:nvPr/>
        </p:nvSpPr>
        <p:spPr>
          <a:xfrm>
            <a:off x="502920" y="4818888"/>
            <a:ext cx="82296" cy="8229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1"/>
          <p:cNvSpPr/>
          <p:nvPr/>
        </p:nvSpPr>
        <p:spPr>
          <a:xfrm>
            <a:off x="758952" y="4690872"/>
            <a:ext cx="109298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Puo’ associarsi ad altre patologie malformative: tetralogia di Fallot, DIV, trasposizione delle grandi arterie, stenosi polmonare, più raramente VAB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1"/>
          <p:cNvSpPr/>
          <p:nvPr/>
        </p:nvSpPr>
        <p:spPr>
          <a:xfrm>
            <a:off x="502920" y="5303520"/>
            <a:ext cx="82296" cy="8229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1"/>
          <p:cNvSpPr/>
          <p:nvPr/>
        </p:nvSpPr>
        <p:spPr>
          <a:xfrm>
            <a:off x="758952" y="5175504"/>
            <a:ext cx="109298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Spesso è clinicamente silente e non implica necessariamente una significativa disfunzione valvolare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1"/>
          <p:cNvSpPr/>
          <p:nvPr/>
        </p:nvSpPr>
        <p:spPr>
          <a:xfrm>
            <a:off x="502920" y="5779008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Bigotti et al. 1976; Manivarmane et al. 2018; Jamis-Dow et al. 2014; Sahebjam &amp; Toofaninejad 2021; Koenraadt et al. 2018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1"/>
          <p:cNvSpPr/>
          <p:nvPr/>
        </p:nvSpPr>
        <p:spPr>
          <a:xfrm>
            <a:off x="10591495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9 / 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1"/>
          <p:cNvSpPr txBox="1"/>
          <p:nvPr/>
        </p:nvSpPr>
        <p:spPr>
          <a:xfrm>
            <a:off x="2012281" y="465449"/>
            <a:ext cx="6850365" cy="805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b="1" i="1" lang="en-US" sz="4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Valvola polmonare bicuspide</a:t>
            </a:r>
            <a:endParaRPr b="1" i="1" sz="40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assets/info.png" id="102" name="Google Shape;102;h50118024b2c03704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21208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work/assets/pulmonary_diagram.png" id="103" name="Google Shape;103;h50118024b2c03704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1417320"/>
            <a:ext cx="10789919" cy="2697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h50118024b2c03704_0_3"/>
          <p:cNvSpPr/>
          <p:nvPr/>
        </p:nvSpPr>
        <p:spPr>
          <a:xfrm>
            <a:off x="502920" y="3849624"/>
            <a:ext cx="82200" cy="82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h50118024b2c03704_0_3"/>
          <p:cNvSpPr/>
          <p:nvPr/>
        </p:nvSpPr>
        <p:spPr>
          <a:xfrm>
            <a:off x="758952" y="3721608"/>
            <a:ext cx="1092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h50118024b2c03704_0_3"/>
          <p:cNvSpPr/>
          <p:nvPr/>
        </p:nvSpPr>
        <p:spPr>
          <a:xfrm>
            <a:off x="502920" y="4334256"/>
            <a:ext cx="82200" cy="82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h50118024b2c03704_0_3"/>
          <p:cNvSpPr/>
          <p:nvPr/>
        </p:nvSpPr>
        <p:spPr>
          <a:xfrm>
            <a:off x="758952" y="4206240"/>
            <a:ext cx="1092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Può associarsi a dilatazione del tronco dell'arteria polmonare, come osservato nel caso in esame.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h50118024b2c03704_0_3"/>
          <p:cNvSpPr/>
          <p:nvPr/>
        </p:nvSpPr>
        <p:spPr>
          <a:xfrm>
            <a:off x="502920" y="4818888"/>
            <a:ext cx="82200" cy="82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h50118024b2c03704_0_3"/>
          <p:cNvSpPr/>
          <p:nvPr/>
        </p:nvSpPr>
        <p:spPr>
          <a:xfrm>
            <a:off x="758952" y="4690872"/>
            <a:ext cx="1092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VPB e dilatazione dell’arteria polmonare sono descritte insieme, anche in presenza di stenosi soltanto lieve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h50118024b2c03704_0_3"/>
          <p:cNvSpPr/>
          <p:nvPr/>
        </p:nvSpPr>
        <p:spPr>
          <a:xfrm>
            <a:off x="502920" y="5303520"/>
            <a:ext cx="82200" cy="82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h50118024b2c03704_0_3"/>
          <p:cNvSpPr/>
          <p:nvPr/>
        </p:nvSpPr>
        <p:spPr>
          <a:xfrm>
            <a:off x="758952" y="5175504"/>
            <a:ext cx="1092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Richiede un follow-up nel tempo, per monitorare le dimensioni del tronco e dei rami polmonari.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h50118024b2c03704_0_3"/>
          <p:cNvSpPr/>
          <p:nvPr/>
        </p:nvSpPr>
        <p:spPr>
          <a:xfrm>
            <a:off x="502920" y="5779008"/>
            <a:ext cx="1118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Bigotti et al. 1976; Manivarmane et al. 2018; Jamis-Dow et al. 2014; Sahebjam &amp; Toofaninejad 2021; Koenraadt et al. 2018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h50118024b2c03704_0_3"/>
          <p:cNvSpPr/>
          <p:nvPr/>
        </p:nvSpPr>
        <p:spPr>
          <a:xfrm>
            <a:off x="10591495" y="6547104"/>
            <a:ext cx="109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9 / 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h50118024b2c03704_0_3"/>
          <p:cNvSpPr txBox="1"/>
          <p:nvPr/>
        </p:nvSpPr>
        <p:spPr>
          <a:xfrm>
            <a:off x="2012281" y="465449"/>
            <a:ext cx="68505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b="1" i="1" lang="en-US" sz="4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Valvola polmonare bicuspide</a:t>
            </a:r>
            <a:endParaRPr b="1" i="1" sz="40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assets/calendar.png"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21208"/>
            <a:ext cx="292608" cy="2926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5"/>
          <p:cNvCxnSpPr/>
          <p:nvPr/>
        </p:nvCxnSpPr>
        <p:spPr>
          <a:xfrm>
            <a:off x="1051560" y="2926080"/>
            <a:ext cx="10085832" cy="0"/>
          </a:xfrm>
          <a:prstGeom prst="straightConnector1">
            <a:avLst/>
          </a:prstGeom>
          <a:noFill/>
          <a:ln cap="flat" cmpd="sng" w="381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5"/>
          <p:cNvSpPr/>
          <p:nvPr/>
        </p:nvSpPr>
        <p:spPr>
          <a:xfrm>
            <a:off x="969264" y="2843784"/>
            <a:ext cx="164592" cy="164592"/>
          </a:xfrm>
          <a:prstGeom prst="ellipse">
            <a:avLst/>
          </a:prstGeom>
          <a:solidFill>
            <a:srgbClr val="FF6B35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502920" y="1847088"/>
            <a:ext cx="21838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Nascita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02920" y="2139696"/>
            <a:ext cx="21838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Diagnosi di steno-insufficienza polmonare su valvola displastica (Bambino Gesù)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5"/>
          <p:cNvCxnSpPr/>
          <p:nvPr/>
        </p:nvCxnSpPr>
        <p:spPr>
          <a:xfrm>
            <a:off x="1051560" y="2395728"/>
            <a:ext cx="0" cy="530352"/>
          </a:xfrm>
          <a:prstGeom prst="straightConnector1">
            <a:avLst/>
          </a:prstGeom>
          <a:noFill/>
          <a:ln cap="flat" cmpd="sng" w="12700">
            <a:solidFill>
              <a:srgbClr val="1F7A8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6" name="Google Shape;126;p5"/>
          <p:cNvSpPr/>
          <p:nvPr/>
        </p:nvSpPr>
        <p:spPr>
          <a:xfrm>
            <a:off x="2650236" y="2843784"/>
            <a:ext cx="164592" cy="164592"/>
          </a:xfrm>
          <a:prstGeom prst="ellipse">
            <a:avLst/>
          </a:prstGeom>
          <a:solidFill>
            <a:srgbClr val="FF6B35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7" name="Google Shape;127;p5"/>
          <p:cNvCxnSpPr/>
          <p:nvPr/>
        </p:nvCxnSpPr>
        <p:spPr>
          <a:xfrm>
            <a:off x="2732532" y="2926080"/>
            <a:ext cx="0" cy="502920"/>
          </a:xfrm>
          <a:prstGeom prst="straightConnector1">
            <a:avLst/>
          </a:prstGeom>
          <a:noFill/>
          <a:ln cap="flat" cmpd="sng" w="12700">
            <a:solidFill>
              <a:srgbClr val="1F7A8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8" name="Google Shape;128;p5"/>
          <p:cNvSpPr/>
          <p:nvPr/>
        </p:nvSpPr>
        <p:spPr>
          <a:xfrm>
            <a:off x="1640586" y="3456432"/>
            <a:ext cx="21838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2019–2020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640586" y="3749040"/>
            <a:ext cx="21838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Follow-up ecocardiografico: incremento del tronco polmonare</a:t>
            </a:r>
            <a:endParaRPr sz="1000">
              <a:solidFill>
                <a:srgbClr val="1A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 (34 → 42 mm)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331208" y="2843784"/>
            <a:ext cx="164592" cy="164592"/>
          </a:xfrm>
          <a:prstGeom prst="ellipse">
            <a:avLst/>
          </a:prstGeom>
          <a:solidFill>
            <a:srgbClr val="FF6B35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3321558" y="1847088"/>
            <a:ext cx="21838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2020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321558" y="2139696"/>
            <a:ext cx="21838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Cardio-RM: conferma valvola polmonare bicuspide, steno-insufficienza lieve, MPA 44 mm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5"/>
          <p:cNvCxnSpPr/>
          <p:nvPr/>
        </p:nvCxnSpPr>
        <p:spPr>
          <a:xfrm>
            <a:off x="4413504" y="2395728"/>
            <a:ext cx="0" cy="530352"/>
          </a:xfrm>
          <a:prstGeom prst="straightConnector1">
            <a:avLst/>
          </a:prstGeom>
          <a:noFill/>
          <a:ln cap="flat" cmpd="sng" w="12700">
            <a:solidFill>
              <a:srgbClr val="1F7A8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4" name="Google Shape;134;p5"/>
          <p:cNvSpPr/>
          <p:nvPr/>
        </p:nvSpPr>
        <p:spPr>
          <a:xfrm>
            <a:off x="6012180" y="2843784"/>
            <a:ext cx="164592" cy="164592"/>
          </a:xfrm>
          <a:prstGeom prst="ellipse">
            <a:avLst/>
          </a:prstGeom>
          <a:solidFill>
            <a:srgbClr val="FF6B35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5" name="Google Shape;135;p5"/>
          <p:cNvCxnSpPr/>
          <p:nvPr/>
        </p:nvCxnSpPr>
        <p:spPr>
          <a:xfrm>
            <a:off x="6094476" y="2926080"/>
            <a:ext cx="0" cy="502920"/>
          </a:xfrm>
          <a:prstGeom prst="straightConnector1">
            <a:avLst/>
          </a:prstGeom>
          <a:noFill/>
          <a:ln cap="flat" cmpd="sng" w="12700">
            <a:solidFill>
              <a:srgbClr val="1F7A8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6" name="Google Shape;136;p5"/>
          <p:cNvSpPr/>
          <p:nvPr/>
        </p:nvSpPr>
        <p:spPr>
          <a:xfrm>
            <a:off x="5002530" y="3456432"/>
            <a:ext cx="21838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Ago 2022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5002530" y="3749040"/>
            <a:ext cx="21838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Angio-TC coronarica: variante anatomica benigna, coronarie indenni, MPA 41 mm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7693152" y="2843784"/>
            <a:ext cx="164592" cy="164592"/>
          </a:xfrm>
          <a:prstGeom prst="ellipse">
            <a:avLst/>
          </a:prstGeom>
          <a:solidFill>
            <a:srgbClr val="FF6B35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6683502" y="1847088"/>
            <a:ext cx="21838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Gen 2023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683502" y="2139696"/>
            <a:ext cx="21838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Valutazione cardiochirurgica: non indicazione a intervento, prosecuzione follow-up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5"/>
          <p:cNvCxnSpPr/>
          <p:nvPr/>
        </p:nvCxnSpPr>
        <p:spPr>
          <a:xfrm>
            <a:off x="7775448" y="2395728"/>
            <a:ext cx="0" cy="530352"/>
          </a:xfrm>
          <a:prstGeom prst="straightConnector1">
            <a:avLst/>
          </a:prstGeom>
          <a:noFill/>
          <a:ln cap="flat" cmpd="sng" w="12700">
            <a:solidFill>
              <a:srgbClr val="1F7A8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2" name="Google Shape;142;p5"/>
          <p:cNvSpPr/>
          <p:nvPr/>
        </p:nvSpPr>
        <p:spPr>
          <a:xfrm>
            <a:off x="9374124" y="2843784"/>
            <a:ext cx="164592" cy="164592"/>
          </a:xfrm>
          <a:prstGeom prst="ellipse">
            <a:avLst/>
          </a:prstGeom>
          <a:solidFill>
            <a:srgbClr val="FF6B35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3" name="Google Shape;143;p5"/>
          <p:cNvCxnSpPr/>
          <p:nvPr/>
        </p:nvCxnSpPr>
        <p:spPr>
          <a:xfrm>
            <a:off x="9456420" y="2926080"/>
            <a:ext cx="0" cy="502920"/>
          </a:xfrm>
          <a:prstGeom prst="straightConnector1">
            <a:avLst/>
          </a:prstGeom>
          <a:noFill/>
          <a:ln cap="flat" cmpd="sng" w="12700">
            <a:solidFill>
              <a:srgbClr val="1F7A8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4" name="Google Shape;144;p5"/>
          <p:cNvSpPr/>
          <p:nvPr/>
        </p:nvSpPr>
        <p:spPr>
          <a:xfrm>
            <a:off x="8364474" y="3456432"/>
            <a:ext cx="21838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Feb 2025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8364474" y="3749040"/>
            <a:ext cx="21838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Cardio-RM di controllo: funzione biventricolare normale, nessun LGE, MPA stabile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1055096" y="2843784"/>
            <a:ext cx="164592" cy="164592"/>
          </a:xfrm>
          <a:prstGeom prst="ellipse">
            <a:avLst/>
          </a:prstGeom>
          <a:solidFill>
            <a:srgbClr val="FF6B35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9504883" y="1847088"/>
            <a:ext cx="21838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Mar 2026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9504883" y="2139696"/>
            <a:ext cx="21838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Valutazione medico-sportiva: ECG a riposo + CPET per idoneità agonistica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5"/>
          <p:cNvCxnSpPr/>
          <p:nvPr/>
        </p:nvCxnSpPr>
        <p:spPr>
          <a:xfrm>
            <a:off x="11137392" y="2395728"/>
            <a:ext cx="0" cy="530352"/>
          </a:xfrm>
          <a:prstGeom prst="straightConnector1">
            <a:avLst/>
          </a:prstGeom>
          <a:noFill/>
          <a:ln cap="flat" cmpd="sng" w="12700">
            <a:solidFill>
              <a:srgbClr val="1F7A8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0" name="Google Shape;150;p5"/>
          <p:cNvSpPr/>
          <p:nvPr/>
        </p:nvSpPr>
        <p:spPr>
          <a:xfrm>
            <a:off x="502920" y="5257800"/>
            <a:ext cx="11185855" cy="868680"/>
          </a:xfrm>
          <a:prstGeom prst="roundRect">
            <a:avLst>
              <a:gd fmla="val 12632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trending.png" id="151" name="Google Shape;15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088" y="54681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/>
          <p:nvPr/>
        </p:nvSpPr>
        <p:spPr>
          <a:xfrm>
            <a:off x="1325880" y="5349240"/>
            <a:ext cx="101800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Quadro sostanzialmente stabile dal 2020: </a:t>
            </a:r>
            <a: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dilatazione del tronco polmonare persistente ma non progressiva (~41-44 mm), funzione bi-ventricolare sempre conservata, nessun evento avverso riportato.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Caso clinico – Valvola polmonare bicuspide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0591495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3 / 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1161288" y="455689"/>
            <a:ext cx="9680883" cy="805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b="1" i="1" lang="en-US" sz="3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Valvola polmonare bicuspide seguita nel tempo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stethoscope.png" id="162" name="Google Shape;1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212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"/>
          <p:cNvSpPr/>
          <p:nvPr/>
        </p:nvSpPr>
        <p:spPr>
          <a:xfrm>
            <a:off x="1252728" y="34747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VALUTAZIONE CARDIOLOGICA DI BASE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252728" y="57607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0A2E4D"/>
                </a:solidFill>
                <a:latin typeface="Cambria"/>
                <a:ea typeface="Cambria"/>
                <a:cs typeface="Cambria"/>
                <a:sym typeface="Cambria"/>
              </a:rPr>
              <a:t>ECG a riposo ed ecocardiogramma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02920" y="1417320"/>
            <a:ext cx="5440680" cy="4892040"/>
          </a:xfrm>
          <a:prstGeom prst="roundRect">
            <a:avLst>
              <a:gd fmla="val 2243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0A2E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ecg.png" id="167" name="Google Shape;16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17830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/>
          <p:nvPr/>
        </p:nvSpPr>
        <p:spPr>
          <a:xfrm>
            <a:off x="1371600" y="16733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ECG a riposo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371600" y="193852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05 marzo 2026 – Medicina dello Sport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777240" y="2331720"/>
            <a:ext cx="1223010" cy="4818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F7A8C"/>
                </a:solidFill>
                <a:latin typeface="Cambria"/>
                <a:ea typeface="Cambria"/>
                <a:cs typeface="Cambria"/>
                <a:sym typeface="Cambria"/>
              </a:rPr>
              <a:t>70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777240" y="2813609"/>
            <a:ext cx="1223010" cy="295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bpm FC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2000250" y="2331720"/>
            <a:ext cx="1223010" cy="4818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F7A8C"/>
                </a:solidFill>
                <a:latin typeface="Cambria"/>
                <a:ea typeface="Cambria"/>
                <a:cs typeface="Cambria"/>
                <a:sym typeface="Cambria"/>
              </a:rPr>
              <a:t>138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2000250" y="2813609"/>
            <a:ext cx="1223010" cy="295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ms PR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223260" y="2331720"/>
            <a:ext cx="1223010" cy="4818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F7A8C"/>
                </a:solidFill>
                <a:latin typeface="Cambria"/>
                <a:ea typeface="Cambria"/>
                <a:cs typeface="Cambria"/>
                <a:sym typeface="Cambria"/>
              </a:rPr>
              <a:t>108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3223260" y="2813609"/>
            <a:ext cx="1223010" cy="295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ms QRS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446270" y="2331720"/>
            <a:ext cx="1223010" cy="4818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F7A8C"/>
                </a:solidFill>
                <a:latin typeface="Cambria"/>
                <a:ea typeface="Cambria"/>
                <a:cs typeface="Cambria"/>
                <a:sym typeface="Cambria"/>
              </a:rPr>
              <a:t>395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446270" y="2813609"/>
            <a:ext cx="1223010" cy="295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ms QTc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6"/>
          <p:cNvCxnSpPr/>
          <p:nvPr/>
        </p:nvCxnSpPr>
        <p:spPr>
          <a:xfrm>
            <a:off x="777240" y="3246120"/>
            <a:ext cx="4892040" cy="0"/>
          </a:xfrm>
          <a:prstGeom prst="straightConnector1">
            <a:avLst/>
          </a:prstGeom>
          <a:noFill/>
          <a:ln cap="flat" cmpd="sng" w="12700">
            <a:solidFill>
              <a:srgbClr val="E0E6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777240" y="3401568"/>
            <a:ext cx="4892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Ritmo sinusale, conduzione AV/IV regolare.</a:t>
            </a:r>
            <a:b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PA 155/75 mmHg (in atto verifica di ipertensione da camice bianco).</a:t>
            </a:r>
            <a:b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Nessuna aritmia significativa.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777240" y="4709160"/>
            <a:ext cx="4892040" cy="1371600"/>
          </a:xfrm>
          <a:prstGeom prst="roundRect">
            <a:avLst>
              <a:gd fmla="val 8000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960120" y="4709160"/>
            <a:ext cx="4526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Nella norma per età, sesso e livello di allenamento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263640" y="1417320"/>
            <a:ext cx="5422392" cy="4892040"/>
          </a:xfrm>
          <a:prstGeom prst="roundRect">
            <a:avLst>
              <a:gd fmla="val 2243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6492240" y="1645920"/>
            <a:ext cx="502920" cy="502920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activity.png" id="184" name="Google Shape;18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17830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6"/>
          <p:cNvSpPr/>
          <p:nvPr/>
        </p:nvSpPr>
        <p:spPr>
          <a:xfrm>
            <a:off x="7132320" y="167335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Ecocardiogramma color-Doppler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7132320" y="193852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18 dicembre 2025 – CDP Cardiologia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537960" y="2331720"/>
            <a:ext cx="1223010" cy="4818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F7A8C"/>
                </a:solidFill>
                <a:latin typeface="Cambria"/>
                <a:ea typeface="Cambria"/>
                <a:cs typeface="Cambria"/>
                <a:sym typeface="Cambria"/>
              </a:rPr>
              <a:t>18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6537960" y="2813609"/>
            <a:ext cx="1223010" cy="295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mmHg Gmax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7760970" y="2331720"/>
            <a:ext cx="1223010" cy="4818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F7A8C"/>
                </a:solidFill>
                <a:latin typeface="Cambria"/>
                <a:ea typeface="Cambria"/>
                <a:cs typeface="Cambria"/>
                <a:sym typeface="Cambria"/>
              </a:rPr>
              <a:t>42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7760970" y="2813609"/>
            <a:ext cx="1223010" cy="295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mm MPA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8983980" y="2331720"/>
            <a:ext cx="1223010" cy="4818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F7A8C"/>
                </a:solidFill>
                <a:latin typeface="Cambria"/>
                <a:ea typeface="Cambria"/>
                <a:cs typeface="Cambria"/>
                <a:sym typeface="Cambria"/>
              </a:rPr>
              <a:t>57%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8983980" y="2813609"/>
            <a:ext cx="1223010" cy="295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AutoEF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10206990" y="2331720"/>
            <a:ext cx="1223010" cy="4818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F7A8C"/>
                </a:solidFill>
                <a:latin typeface="Cambria"/>
                <a:ea typeface="Cambria"/>
                <a:cs typeface="Cambria"/>
                <a:sym typeface="Cambria"/>
              </a:rPr>
              <a:t>24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10206990" y="2813609"/>
            <a:ext cx="1223010" cy="295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mm TAPSE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6"/>
          <p:cNvCxnSpPr/>
          <p:nvPr/>
        </p:nvCxnSpPr>
        <p:spPr>
          <a:xfrm>
            <a:off x="6537960" y="3246120"/>
            <a:ext cx="4892040" cy="0"/>
          </a:xfrm>
          <a:prstGeom prst="straightConnector1">
            <a:avLst/>
          </a:prstGeom>
          <a:noFill/>
          <a:ln cap="flat" cmpd="sng" w="12700">
            <a:solidFill>
              <a:srgbClr val="E0E6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6"/>
          <p:cNvSpPr/>
          <p:nvPr/>
        </p:nvSpPr>
        <p:spPr>
          <a:xfrm>
            <a:off x="6537960" y="3401568"/>
            <a:ext cx="48920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Steno-insufficienza valvolare polmonare lieve.</a:t>
            </a:r>
            <a:br>
              <a:rPr lang="en-US" sz="12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Dilatazione MPA stabile (42 mm pre-biforcazione).</a:t>
            </a:r>
            <a:br>
              <a:rPr lang="en-US" sz="12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Ventricolo destro normale, funzione conservata (RV-FAC 53%).</a:t>
            </a:r>
            <a:br>
              <a:rPr lang="en-US" sz="12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Lieve insufficienza mitralica e tricuspidale; non versamento.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6537960" y="4937760"/>
            <a:ext cx="4892040" cy="1143000"/>
          </a:xfrm>
          <a:prstGeom prst="roundRect">
            <a:avLst>
              <a:gd fmla="val 9600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6720840" y="4937760"/>
            <a:ext cx="45262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Quadro sovrapponibile ai controlli precedenti: stabilità dimensionale confermata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Caso clinico – Valvola polmonare bicuspide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10591495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4 / 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search.png" id="207" name="Google Shape;20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212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7"/>
          <p:cNvSpPr/>
          <p:nvPr/>
        </p:nvSpPr>
        <p:spPr>
          <a:xfrm>
            <a:off x="1252728" y="34747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VALUTAZIONE CARDIOLOGICA DI BASE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1252728" y="57607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0A2E4D"/>
                </a:solidFill>
                <a:latin typeface="Cambria"/>
                <a:ea typeface="Cambria"/>
                <a:cs typeface="Cambria"/>
                <a:sym typeface="Cambria"/>
              </a:rPr>
              <a:t>Imaging avanzato: angio-TC e risonanza cardiaca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02920" y="1417320"/>
            <a:ext cx="5440680" cy="4892040"/>
          </a:xfrm>
          <a:prstGeom prst="roundRect">
            <a:avLst>
              <a:gd fmla="val 2243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0A2E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activity.png" id="212" name="Google Shape;21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17830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"/>
          <p:cNvSpPr/>
          <p:nvPr/>
        </p:nvSpPr>
        <p:spPr>
          <a:xfrm>
            <a:off x="1371600" y="16459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Angio-TC coronarica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1371600" y="192024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Agosto 2022 – Policlinico Casilino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7"/>
          <p:cNvCxnSpPr/>
          <p:nvPr/>
        </p:nvCxnSpPr>
        <p:spPr>
          <a:xfrm>
            <a:off x="777240" y="2286000"/>
            <a:ext cx="4892040" cy="0"/>
          </a:xfrm>
          <a:prstGeom prst="straightConnector1">
            <a:avLst/>
          </a:prstGeom>
          <a:noFill/>
          <a:ln cap="flat" cmpd="sng" w="12700">
            <a:solidFill>
              <a:srgbClr val="E0E6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7"/>
          <p:cNvSpPr/>
          <p:nvPr/>
        </p:nvSpPr>
        <p:spPr>
          <a:xfrm>
            <a:off x="777240" y="2450592"/>
            <a:ext cx="48920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Circolo coronarico a dominanza destra.</a:t>
            </a:r>
            <a:b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Variante anatomica benigna: tronco comune con origine disgiunta di circonflessa e discendente anteriore dal seno coronarico di sinistra.</a:t>
            </a:r>
            <a:b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Coronarie prive di lesioni patologiche.</a:t>
            </a:r>
            <a:b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Tronco arteria polmonare 41 mm; rami polmonari 30×28 mm (sx) e 24×22 mm (dx).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777240" y="5349240"/>
            <a:ext cx="4892040" cy="777240"/>
          </a:xfrm>
          <a:prstGeom prst="roundRect">
            <a:avLst>
              <a:gd fmla="val 14118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960120" y="5349240"/>
            <a:ext cx="4526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Nessun reperto patologico a carico del circolo coronarico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263640" y="1417320"/>
            <a:ext cx="5422392" cy="4892040"/>
          </a:xfrm>
          <a:prstGeom prst="roundRect">
            <a:avLst>
              <a:gd fmla="val 2243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6492240" y="1645920"/>
            <a:ext cx="502920" cy="502920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heart.png" id="221" name="Google Shape;22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0" y="17830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7"/>
          <p:cNvSpPr/>
          <p:nvPr/>
        </p:nvSpPr>
        <p:spPr>
          <a:xfrm>
            <a:off x="7132320" y="164592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Risonanza magnetica cardiaca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7132320" y="192024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Febbraio 2025 – Policlinico Casilino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6537960" y="2286000"/>
            <a:ext cx="1630680" cy="4818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F7A8C"/>
                </a:solidFill>
                <a:latin typeface="Cambria"/>
                <a:ea typeface="Cambria"/>
                <a:cs typeface="Cambria"/>
                <a:sym typeface="Cambria"/>
              </a:rPr>
              <a:t>55%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537960" y="2767889"/>
            <a:ext cx="1630680" cy="295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FE VS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8168640" y="2286000"/>
            <a:ext cx="1630680" cy="4818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F7A8C"/>
                </a:solidFill>
                <a:latin typeface="Cambria"/>
                <a:ea typeface="Cambria"/>
                <a:cs typeface="Cambria"/>
                <a:sym typeface="Cambria"/>
              </a:rPr>
              <a:t>55%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8168640" y="2767889"/>
            <a:ext cx="1630680" cy="295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FE VD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9799320" y="2286000"/>
            <a:ext cx="1630680" cy="4818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F7A8C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9799320" y="2767889"/>
            <a:ext cx="1630680" cy="295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Aree di LGE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7"/>
          <p:cNvCxnSpPr/>
          <p:nvPr/>
        </p:nvCxnSpPr>
        <p:spPr>
          <a:xfrm>
            <a:off x="6537960" y="3200400"/>
            <a:ext cx="4892040" cy="0"/>
          </a:xfrm>
          <a:prstGeom prst="straightConnector1">
            <a:avLst/>
          </a:prstGeom>
          <a:noFill/>
          <a:ln cap="flat" cmpd="sng" w="12700">
            <a:solidFill>
              <a:srgbClr val="E0E6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7"/>
          <p:cNvSpPr/>
          <p:nvPr/>
        </p:nvSpPr>
        <p:spPr>
          <a:xfrm>
            <a:off x="6537960" y="3364992"/>
            <a:ext cx="4892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Volumi e spessori biventricolari nei limiti della norma.</a:t>
            </a:r>
            <a:b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Nessuna area di fibrosi/danno miocardico (LGE) dopo mezzo di contrasto.</a:t>
            </a:r>
            <a:b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Confermata valvola polmonare bicuspide con insufficienza lieve.</a:t>
            </a:r>
            <a:b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Tronco arteria polmonare stabile, max ~43 mm.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6537960" y="5349240"/>
            <a:ext cx="4892040" cy="777240"/>
          </a:xfrm>
          <a:prstGeom prst="roundRect">
            <a:avLst>
              <a:gd fmla="val 14118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6720840" y="5349240"/>
            <a:ext cx="4526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Funzione cardiaca globale e regionale conservata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Caso clinico – Valvola polmonare bicuspide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10591495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5 / 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activity.png" id="242" name="Google Shape;2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212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8"/>
          <p:cNvSpPr/>
          <p:nvPr/>
        </p:nvSpPr>
        <p:spPr>
          <a:xfrm>
            <a:off x="1252728" y="34747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VALUTAZIONE FUNZIONALE ALLO SFORZO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1252728" y="57607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0A2E4D"/>
                </a:solidFill>
                <a:latin typeface="Cambria"/>
                <a:ea typeface="Cambria"/>
                <a:cs typeface="Cambria"/>
                <a:sym typeface="Cambria"/>
              </a:rPr>
              <a:t>CPET — Protocollo e risposta cardiovascolare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502920" y="1417320"/>
            <a:ext cx="3749040" cy="4892040"/>
          </a:xfrm>
          <a:prstGeom prst="roundRect">
            <a:avLst>
              <a:gd fmla="val 2927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731520" y="1600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Protocollo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731520" y="1920240"/>
            <a:ext cx="32918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Test cardiopolmonare massimale al cicloergometro</a:t>
            </a:r>
            <a:br>
              <a:rPr b="1"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11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20 marzo 2026 – Medicina dello Sport</a:t>
            </a:r>
            <a:br>
              <a:rPr i="1" lang="en-US" sz="11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i="1" lang="en-US" sz="11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Protocollo a rampa: 30 W/min</a:t>
            </a:r>
            <a:b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Motivo di interruzione: esaurimento muscolare</a:t>
            </a:r>
            <a:b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Nessun sintomo riferito durante il test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731520" y="3703320"/>
            <a:ext cx="3291840" cy="713232"/>
          </a:xfrm>
          <a:prstGeom prst="roundRect">
            <a:avLst>
              <a:gd fmla="val 15385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914400" y="3703320"/>
            <a:ext cx="1463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0A2E4D"/>
                </a:solidFill>
                <a:latin typeface="Cambria"/>
                <a:ea typeface="Cambria"/>
                <a:cs typeface="Cambria"/>
                <a:sym typeface="Cambria"/>
              </a:rPr>
              <a:t>285 W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2377440" y="3703320"/>
            <a:ext cx="16002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Carico massimo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731520" y="4526280"/>
            <a:ext cx="3291840" cy="713232"/>
          </a:xfrm>
          <a:prstGeom prst="roundRect">
            <a:avLst>
              <a:gd fmla="val 15385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914400" y="4526280"/>
            <a:ext cx="1463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0A2E4D"/>
                </a:solidFill>
                <a:latin typeface="Cambria"/>
                <a:ea typeface="Cambria"/>
                <a:cs typeface="Cambria"/>
                <a:sym typeface="Cambria"/>
              </a:rPr>
              <a:t>194 bpm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2377440" y="4526280"/>
            <a:ext cx="16002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FC max (102% teor.)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731520" y="5349240"/>
            <a:ext cx="3291840" cy="713232"/>
          </a:xfrm>
          <a:prstGeom prst="roundRect">
            <a:avLst>
              <a:gd fmla="val 15385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914400" y="5349240"/>
            <a:ext cx="1463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0A2E4D"/>
                </a:solidFill>
                <a:latin typeface="Cambria"/>
                <a:ea typeface="Cambria"/>
                <a:cs typeface="Cambria"/>
                <a:sym typeface="Cambria"/>
              </a:rPr>
              <a:t>185/80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2377440" y="5349240"/>
            <a:ext cx="16002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PA max (mmHg)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4892040" y="1463040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Andamento della frequenza cardiaca durante prova e recupero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8" name="Google Shape;258;p8"/>
          <p:cNvGraphicFramePr/>
          <p:nvPr/>
        </p:nvGraphicFramePr>
        <p:xfrm>
          <a:off x="4892040" y="1783080"/>
          <a:ext cx="6766560" cy="288036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59" name="Google Shape;259;p8"/>
          <p:cNvSpPr/>
          <p:nvPr/>
        </p:nvSpPr>
        <p:spPr>
          <a:xfrm>
            <a:off x="4892040" y="4846320"/>
            <a:ext cx="6766560" cy="1417320"/>
          </a:xfrm>
          <a:prstGeom prst="roundRect">
            <a:avLst>
              <a:gd fmla="val 7742" name="adj"/>
            </a:avLst>
          </a:prstGeom>
          <a:solidFill>
            <a:srgbClr val="FDF1EC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alert.png" id="260" name="Google Shape;26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93208" y="5029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8"/>
          <p:cNvSpPr/>
          <p:nvPr/>
        </p:nvSpPr>
        <p:spPr>
          <a:xfrm>
            <a:off x="5715000" y="4937760"/>
            <a:ext cx="5760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Dal carico di 120 W: </a:t>
            </a:r>
            <a:r>
              <a:rPr lang="en-US" sz="11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comparsa di onde T difasiche diffuse e sottoslivellamento ST rettilineo in sede infero-laterale, progressivo con il carico.</a:t>
            </a:r>
            <a:br>
              <a:rPr lang="en-US" sz="11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  <a:t>Normalizzazione completa: </a:t>
            </a:r>
            <a:r>
              <a:rPr lang="en-US" sz="11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onde T al 2' di recupero, tratto ST al 4' di recupero. Nessuna aritmia.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Caso clinico – Valvola polmonare bicuspide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10591495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6 / 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wind.png" id="270" name="Google Shape;27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212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9"/>
          <p:cNvSpPr/>
          <p:nvPr/>
        </p:nvSpPr>
        <p:spPr>
          <a:xfrm>
            <a:off x="1252728" y="34747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VALUTAZIONE FUNZIONALE ALLO SFORZO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1252728" y="57607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0A2E4D"/>
                </a:solidFill>
                <a:latin typeface="Cambria"/>
                <a:ea typeface="Cambria"/>
                <a:cs typeface="Cambria"/>
                <a:sym typeface="Cambria"/>
              </a:rPr>
              <a:t>CPET — Analisi metabolica e ventilatoria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502920" y="1417320"/>
            <a:ext cx="6537960" cy="4892040"/>
          </a:xfrm>
          <a:prstGeom prst="roundRect">
            <a:avLst>
              <a:gd fmla="val 2243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731520" y="1572768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Consumo di ossigeno: soglie ventilatorie e picco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5" name="Google Shape;275;p9"/>
          <p:cNvGraphicFramePr/>
          <p:nvPr/>
        </p:nvGraphicFramePr>
        <p:xfrm>
          <a:off x="731520" y="1920240"/>
          <a:ext cx="6080760" cy="251460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76" name="Google Shape;276;p9"/>
          <p:cNvSpPr/>
          <p:nvPr/>
        </p:nvSpPr>
        <p:spPr>
          <a:xfrm>
            <a:off x="731520" y="4526280"/>
            <a:ext cx="6080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VT1 </a:t>
            </a:r>
            <a:r>
              <a:rPr lang="en-US" sz="11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 20.3 mL/kg/min (45% del picco, FC ~135 bpm)   •   </a:t>
            </a:r>
            <a:r>
              <a:rPr b="1" lang="en-US" sz="115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VT2 </a:t>
            </a:r>
            <a:r>
              <a:rPr lang="en-US" sz="11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 39.0 mL/kg/min (87% del picco, FC ~180 bpm)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731520" y="5029200"/>
            <a:ext cx="6080760" cy="1051560"/>
          </a:xfrm>
          <a:prstGeom prst="roundRect">
            <a:avLst>
              <a:gd fmla="val 10435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914400" y="5029200"/>
            <a:ext cx="5715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VO₂ di picco 3167 mL/min – 44.6 mL/kg/min </a:t>
            </a:r>
            <a:r>
              <a:rPr lang="en-US" sz="12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(96% del teorico) → tolleranza allo sforzo normale per età, costituzione ed allenamento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6858000" y="1417320"/>
            <a:ext cx="4828032" cy="1170432"/>
          </a:xfrm>
          <a:prstGeom prst="roundRect">
            <a:avLst>
              <a:gd fmla="val 9375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7040880" y="1545336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F7A8C"/>
                </a:solidFill>
                <a:latin typeface="Cambria"/>
                <a:ea typeface="Cambria"/>
                <a:cs typeface="Cambria"/>
                <a:sym typeface="Cambria"/>
              </a:rPr>
              <a:t>3479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8686800" y="1545336"/>
            <a:ext cx="2816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OUES (mL/min/L/min) — efficienza ventilatoria normale (v.n. &gt; 3207)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6858000" y="2715768"/>
            <a:ext cx="4828032" cy="1170432"/>
          </a:xfrm>
          <a:prstGeom prst="roundRect">
            <a:avLst>
              <a:gd fmla="val 9375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7040880" y="2843784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F7A8C"/>
                </a:solidFill>
                <a:latin typeface="Cambria"/>
                <a:ea typeface="Cambria"/>
                <a:cs typeface="Cambria"/>
                <a:sym typeface="Cambria"/>
              </a:rPr>
              <a:t>16.5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8686800" y="2843784"/>
            <a:ext cx="2816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Polso di O₂ di picco, mL/battito (95% del teorico), andamento in crescita continua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6858000" y="4014216"/>
            <a:ext cx="4828032" cy="1170432"/>
          </a:xfrm>
          <a:prstGeom prst="roundRect">
            <a:avLst>
              <a:gd fmla="val 9375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7040880" y="4142232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F7A8C"/>
                </a:solidFill>
                <a:latin typeface="Cambria"/>
                <a:ea typeface="Cambria"/>
                <a:cs typeface="Cambria"/>
                <a:sym typeface="Cambria"/>
              </a:rPr>
              <a:t>96–98%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8686800" y="4142232"/>
            <a:ext cx="2816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SpO₂ stabile durante tutto il test (riposo, sforzo, recupero)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6858000" y="5312664"/>
            <a:ext cx="4828032" cy="960120"/>
          </a:xfrm>
          <a:prstGeom prst="roundRect">
            <a:avLst>
              <a:gd fmla="val 11429" name="adj"/>
            </a:avLst>
          </a:prstGeom>
          <a:solidFill>
            <a:srgbClr val="EAF3EC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check.png" id="289" name="Google Shape;28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40880" y="547725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9"/>
          <p:cNvSpPr/>
          <p:nvPr/>
        </p:nvSpPr>
        <p:spPr>
          <a:xfrm>
            <a:off x="7680960" y="5312664"/>
            <a:ext cx="382219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  <a:t>Nessun segno di limitazione cardiovascolare, respiratoria o periferica all'esercizio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Caso clinico – Valvola polmonare bicuspide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10591495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7 / 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check.png" id="299" name="Google Shape;2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212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0"/>
          <p:cNvSpPr/>
          <p:nvPr/>
        </p:nvSpPr>
        <p:spPr>
          <a:xfrm>
            <a:off x="1252728" y="34747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VALUTAZIONE FUNZIONALE ALLO SFORZO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1252728" y="57607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0A2E4D"/>
                </a:solidFill>
                <a:latin typeface="Cambria"/>
                <a:ea typeface="Cambria"/>
                <a:cs typeface="Cambria"/>
                <a:sym typeface="Cambria"/>
              </a:rPr>
              <a:t>CPET — Conclusioni cliniche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502920" y="1508760"/>
            <a:ext cx="5410048" cy="1783080"/>
          </a:xfrm>
          <a:prstGeom prst="roundRect">
            <a:avLst>
              <a:gd fmla="val 6154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check.png" id="304" name="Google Shape;3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8745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0"/>
          <p:cNvSpPr/>
          <p:nvPr/>
        </p:nvSpPr>
        <p:spPr>
          <a:xfrm>
            <a:off x="1463040" y="1709928"/>
            <a:ext cx="42213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Test massimale, negativo per ischemia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1463040" y="2258568"/>
            <a:ext cx="42213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Negativo per ischemia miocardica da sforzo, anche alla luce della coronarografia-TC del 2022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6278728" y="1508760"/>
            <a:ext cx="5410048" cy="1783080"/>
          </a:xfrm>
          <a:prstGeom prst="roundRect">
            <a:avLst>
              <a:gd fmla="val 6154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6507328" y="1737360"/>
            <a:ext cx="548640" cy="548640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activity.png" id="309" name="Google Shape;30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4488" y="18745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0"/>
          <p:cNvSpPr/>
          <p:nvPr/>
        </p:nvSpPr>
        <p:spPr>
          <a:xfrm>
            <a:off x="7238848" y="1709928"/>
            <a:ext cx="42213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Alterazioni ECG transitorie e reversibili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7238848" y="2258568"/>
            <a:ext cx="42213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Le modificazioni del tratto ST e dell'onda T comparse sotto sforzo si sono normalizzate completamente entro il 4° minuto di recupero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502920" y="3611880"/>
            <a:ext cx="5410048" cy="1783080"/>
          </a:xfrm>
          <a:prstGeom prst="roundRect">
            <a:avLst>
              <a:gd fmla="val 6154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trending.png" id="314" name="Google Shape;31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" y="3977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0"/>
          <p:cNvSpPr/>
          <p:nvPr/>
        </p:nvSpPr>
        <p:spPr>
          <a:xfrm>
            <a:off x="1463040" y="3813048"/>
            <a:ext cx="42213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Tolleranza allo sforzo normale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1463040" y="4361688"/>
            <a:ext cx="42213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Normale per età, costituzione corporea e livello di allenamento atletico (VO₂ picco 96% del teorico)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6278728" y="3611880"/>
            <a:ext cx="5410048" cy="1783080"/>
          </a:xfrm>
          <a:prstGeom prst="roundRect">
            <a:avLst>
              <a:gd fmla="val 6154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6507328" y="3840480"/>
            <a:ext cx="548640" cy="548640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shield.png" id="319" name="Google Shape;31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44488" y="3977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0"/>
          <p:cNvSpPr/>
          <p:nvPr/>
        </p:nvSpPr>
        <p:spPr>
          <a:xfrm>
            <a:off x="7238848" y="3813048"/>
            <a:ext cx="42213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Nessuna limitazione funzionale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7238848" y="4361688"/>
            <a:ext cx="42213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Analisi dei gas ventilatori: nessun segno di limitazione cardiovascolare, respiratoria o periferica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502920" y="5532120"/>
            <a:ext cx="11185855" cy="658368"/>
          </a:xfrm>
          <a:prstGeom prst="roundRect">
            <a:avLst>
              <a:gd fmla="val 16667" name="adj"/>
            </a:avLst>
          </a:prstGeom>
          <a:solidFill>
            <a:srgbClr val="0A2E4D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777240" y="5532120"/>
            <a:ext cx="106372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Nessuna controindicazione cardiologica emersa alla pratica del ciclismo a livello agonistico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Caso clinico – Valvola polmonare bicuspide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10591495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8 / 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book.png" id="332" name="Google Shape;33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212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2"/>
          <p:cNvSpPr/>
          <p:nvPr/>
        </p:nvSpPr>
        <p:spPr>
          <a:xfrm>
            <a:off x="1252728" y="34747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INQUADRAMENTO CLINICO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1252728" y="57607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0A2E4D"/>
                </a:solidFill>
                <a:latin typeface="Cambria"/>
                <a:ea typeface="Cambria"/>
                <a:cs typeface="Cambria"/>
                <a:sym typeface="Cambria"/>
              </a:rPr>
              <a:t>Valvulopatia congenita e sport: cosa dicono le linee guida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502920" y="1463040"/>
            <a:ext cx="11185855" cy="1170432"/>
          </a:xfrm>
          <a:prstGeom prst="roundRect">
            <a:avLst>
              <a:gd fmla="val 9375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704088" y="1664208"/>
            <a:ext cx="566928" cy="566928"/>
          </a:xfrm>
          <a:prstGeom prst="ellipse">
            <a:avLst/>
          </a:prstGeom>
          <a:solidFill>
            <a:srgbClr val="0A2E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book.png" id="337" name="Google Shape;33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1801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2"/>
          <p:cNvSpPr/>
          <p:nvPr/>
        </p:nvSpPr>
        <p:spPr>
          <a:xfrm>
            <a:off x="1463040" y="1591056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ESC 2020 — Cardiologia dello sport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1463040" y="1865376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Pelliccia A. et al., Eur Heart J 2021;42:17–96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6451470" y="1545336"/>
            <a:ext cx="519653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Nelle valvulopatie congenite raccomanda una valutazione multiparametrica (imaging, ECG da sforzo, CPET) prima dell'idoneità allo sport agonistico.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502920" y="2788920"/>
            <a:ext cx="11185855" cy="1170432"/>
          </a:xfrm>
          <a:prstGeom prst="roundRect">
            <a:avLst>
              <a:gd fmla="val 9375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704088" y="2990088"/>
            <a:ext cx="566928" cy="566928"/>
          </a:xfrm>
          <a:prstGeom prst="ellipse">
            <a:avLst/>
          </a:prstGeom>
          <a:solidFill>
            <a:srgbClr val="0A2E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book.png" id="343" name="Google Shape;3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312724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2"/>
          <p:cNvSpPr/>
          <p:nvPr/>
        </p:nvSpPr>
        <p:spPr>
          <a:xfrm>
            <a:off x="1463040" y="2916936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AHA/ACC 2025 — Scientific Statement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1463040" y="3191256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Kim J.H. et al., JACC 2025;85(10):1059–1108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6446520" y="2916936"/>
            <a:ext cx="519653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In assenza di stenosi/insufficienza severa, disfunzione ventricolare o aritmie significative, la partecipazione sportiva competitiva può generalmente essere concessa, con follow-up regolare.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502920" y="4114800"/>
            <a:ext cx="11185855" cy="1170432"/>
          </a:xfrm>
          <a:prstGeom prst="roundRect">
            <a:avLst>
              <a:gd fmla="val 9375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"/>
          <p:cNvSpPr/>
          <p:nvPr/>
        </p:nvSpPr>
        <p:spPr>
          <a:xfrm>
            <a:off x="704088" y="4315968"/>
            <a:ext cx="566928" cy="566928"/>
          </a:xfrm>
          <a:prstGeom prst="ellipse">
            <a:avLst/>
          </a:prstGeom>
          <a:solidFill>
            <a:srgbClr val="0A2E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book.png" id="349" name="Google Shape;34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445312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2"/>
          <p:cNvSpPr/>
          <p:nvPr/>
        </p:nvSpPr>
        <p:spPr>
          <a:xfrm>
            <a:off x="1463040" y="4242816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ACC/AHA/HRS/ISACHD/SCAI 2025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1463040" y="4517136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Linee guida per la gestione dell'adulto con cardiopatia congenita (ACHD)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6446520" y="4242816"/>
            <a:ext cx="519653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Raccomandano un follow-up per immagini periodico nelle valvulopatie polmonari associate a dilatazione dell'arteria polmonare.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502920" y="5486400"/>
            <a:ext cx="11185855" cy="777240"/>
          </a:xfrm>
          <a:prstGeom prst="roundRect">
            <a:avLst>
              <a:gd fmla="val 14118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731520" y="5486400"/>
            <a:ext cx="1072865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Nel caso in esame: </a:t>
            </a:r>
            <a:r>
              <a:rPr lang="en-US" sz="13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steno-insufficienza lieve, funzione biventricolare conservata, non ischemia inducibile, tronco polmonare stabile da anni → profilo di rischio favorevole. </a:t>
            </a:r>
            <a:r>
              <a:rPr lang="en-US" sz="1200">
                <a:solidFill>
                  <a:srgbClr val="0D0D0D"/>
                </a:solidFill>
                <a:highlight>
                  <a:srgbClr val="FCFCFC"/>
                </a:highlight>
              </a:rPr>
              <a:t>In presenza di ipertensione polmonare significativa, lo sport competitivo non è raccomandato.</a:t>
            </a:r>
            <a:endParaRPr sz="1200">
              <a:solidFill>
                <a:srgbClr val="0D0D0D"/>
              </a:solidFill>
              <a:highlight>
                <a:srgbClr val="FCFCFC"/>
              </a:highlight>
            </a:endParaRPr>
          </a:p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A25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10591495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10 / 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3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heart.png" id="362" name="Google Shape;36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212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3"/>
          <p:cNvSpPr/>
          <p:nvPr/>
        </p:nvSpPr>
        <p:spPr>
          <a:xfrm>
            <a:off x="1252728" y="34747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INQUADRAMENTO CLINICO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1252728" y="57607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0A2E4D"/>
                </a:solidFill>
                <a:latin typeface="Cambria"/>
                <a:ea typeface="Cambria"/>
                <a:cs typeface="Cambria"/>
                <a:sym typeface="Cambria"/>
              </a:rPr>
              <a:t>Un fattore in più da considerare: il cuore dell'atleta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502920" y="1463040"/>
            <a:ext cx="6492240" cy="4846320"/>
          </a:xfrm>
          <a:prstGeom prst="roundRect">
            <a:avLst>
              <a:gd fmla="val 2264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777240" y="1691640"/>
            <a:ext cx="5943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Rimodellamento cardio-polmonare fisiologico</a:t>
            </a:r>
            <a:br>
              <a:rPr b="1" lang="en-US" sz="150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Negli atleti di endurance l'allenamento cronico induce un rimodellamento che coinvolge non solo il cuore ma anche il circolo polmonare.</a:t>
            </a:r>
            <a:br>
              <a:rPr lang="en-US" sz="13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777240" y="3063240"/>
            <a:ext cx="5943600" cy="1417320"/>
          </a:xfrm>
          <a:prstGeom prst="roundRect">
            <a:avLst>
              <a:gd fmla="val 7742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960120" y="3246120"/>
            <a:ext cx="5577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Domenech-Ximenos et al., 2020 — </a:t>
            </a:r>
            <a: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il rimodellamento indotto dall'esercizio di endurance non riguarda solo il cuore ma l'intero sistema cardio-polmonare.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777240" y="4617720"/>
            <a:ext cx="5943600" cy="1417320"/>
          </a:xfrm>
          <a:prstGeom prst="roundRect">
            <a:avLst>
              <a:gd fmla="val 7742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3"/>
          <p:cNvSpPr/>
          <p:nvPr/>
        </p:nvSpPr>
        <p:spPr>
          <a:xfrm>
            <a:off x="960120" y="4800600"/>
            <a:ext cx="5577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Bissell et al., 2017 — </a:t>
            </a:r>
            <a: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studi di risonanza cardiaca documentano dilatazione dell'arteria polmonare e delle camere destre correlate al carico di allenamento cronico anche in atleti sani.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6766560" y="1463040"/>
            <a:ext cx="4919472" cy="4846320"/>
          </a:xfrm>
          <a:prstGeom prst="roundRect">
            <a:avLst>
              <a:gd fmla="val 2264" name="adj"/>
            </a:avLst>
          </a:prstGeom>
          <a:solidFill>
            <a:srgbClr val="0A2E4D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3"/>
          <p:cNvSpPr/>
          <p:nvPr/>
        </p:nvSpPr>
        <p:spPr>
          <a:xfrm>
            <a:off x="6995160" y="169164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target.png" id="373" name="Google Shape;37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2320" y="18288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3"/>
          <p:cNvSpPr/>
          <p:nvPr/>
        </p:nvSpPr>
        <p:spPr>
          <a:xfrm>
            <a:off x="7680960" y="181051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Implicazione pratica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6995160" y="2331720"/>
            <a:ext cx="44805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 un atleta agonista diventa più complesso distinguere una dilatazione “fisiologica” da allenamento da una legata alla valvulopatia congenita.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6" name="Google Shape;376;p13"/>
          <p:cNvCxnSpPr/>
          <p:nvPr/>
        </p:nvCxnSpPr>
        <p:spPr>
          <a:xfrm>
            <a:off x="6995160" y="3520440"/>
            <a:ext cx="4480560" cy="0"/>
          </a:xfrm>
          <a:prstGeom prst="straightConnector1">
            <a:avLst/>
          </a:prstGeom>
          <a:noFill/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p13"/>
          <p:cNvSpPr/>
          <p:nvPr/>
        </p:nvSpPr>
        <p:spPr>
          <a:xfrm>
            <a:off x="6995160" y="3703320"/>
            <a:ext cx="44805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Ciò rafforza l'importanza del confronto seriale nel tempo — la stabilità dimensionale — più che del valore assoluto isolato di un singolo esame.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Caso clinico – Valvola polmonare bicuspide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10591495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11 / 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4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clipboard.png" id="386" name="Google Shape;38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212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4"/>
          <p:cNvSpPr/>
          <p:nvPr/>
        </p:nvSpPr>
        <p:spPr>
          <a:xfrm>
            <a:off x="1252728" y="34747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PRESCRIZIONE DELL'ESERCIZIO FISICO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1252728" y="57607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0A2E4D"/>
                </a:solidFill>
                <a:latin typeface="Cambria"/>
                <a:ea typeface="Cambria"/>
                <a:cs typeface="Cambria"/>
                <a:sym typeface="Cambria"/>
              </a:rPr>
              <a:t>Il programma: obiettivi e struttura generale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502920" y="1463040"/>
            <a:ext cx="11185855" cy="1234440"/>
          </a:xfrm>
          <a:prstGeom prst="roundRect">
            <a:avLst>
              <a:gd fmla="val 8889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4"/>
          <p:cNvSpPr/>
          <p:nvPr/>
        </p:nvSpPr>
        <p:spPr>
          <a:xfrm>
            <a:off x="777240" y="1691640"/>
            <a:ext cx="777240" cy="777240"/>
          </a:xfrm>
          <a:prstGeom prst="ellipse">
            <a:avLst/>
          </a:prstGeom>
          <a:solidFill>
            <a:srgbClr val="0A2E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target.png" id="391" name="Google Shape;3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120" y="18745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4"/>
          <p:cNvSpPr/>
          <p:nvPr/>
        </p:nvSpPr>
        <p:spPr>
          <a:xfrm>
            <a:off x="1783080" y="16276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Obiettivo del programma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1783080" y="1901952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0A2E4D"/>
                </a:solidFill>
                <a:latin typeface="Cambria"/>
                <a:ea typeface="Cambria"/>
                <a:cs typeface="Cambria"/>
                <a:sym typeface="Cambria"/>
              </a:rPr>
              <a:t>Mantenimento della fitness cardiorespiratoria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502920" y="2926080"/>
            <a:ext cx="3545738" cy="1508760"/>
          </a:xfrm>
          <a:prstGeom prst="roundRect">
            <a:avLst>
              <a:gd fmla="val 7273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4"/>
          <p:cNvSpPr/>
          <p:nvPr/>
        </p:nvSpPr>
        <p:spPr>
          <a:xfrm>
            <a:off x="1992325" y="310896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calendar.png" id="396" name="Google Shape;3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29485" y="32461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4"/>
          <p:cNvSpPr/>
          <p:nvPr/>
        </p:nvSpPr>
        <p:spPr>
          <a:xfrm>
            <a:off x="640080" y="3767328"/>
            <a:ext cx="32714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Redatto il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640080" y="4005072"/>
            <a:ext cx="327141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30 marzo 2026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4322978" y="2926080"/>
            <a:ext cx="3545738" cy="1508760"/>
          </a:xfrm>
          <a:prstGeom prst="roundRect">
            <a:avLst>
              <a:gd fmla="val 7273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5812384" y="310896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clock.png" id="401" name="Google Shape;4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49544" y="32461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4"/>
          <p:cNvSpPr/>
          <p:nvPr/>
        </p:nvSpPr>
        <p:spPr>
          <a:xfrm>
            <a:off x="4460138" y="3767328"/>
            <a:ext cx="32714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Durata complessiva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4460138" y="4005072"/>
            <a:ext cx="327141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12 mesi (piano dettagliato: 6 mesi, apr–set 2026)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8143037" y="2926080"/>
            <a:ext cx="3545738" cy="1508760"/>
          </a:xfrm>
          <a:prstGeom prst="roundRect">
            <a:avLst>
              <a:gd fmla="val 7273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4"/>
          <p:cNvSpPr/>
          <p:nvPr/>
        </p:nvSpPr>
        <p:spPr>
          <a:xfrm>
            <a:off x="9632442" y="310896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user.png" id="406" name="Google Shape;4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69602" y="32461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4"/>
          <p:cNvSpPr/>
          <p:nvPr/>
        </p:nvSpPr>
        <p:spPr>
          <a:xfrm>
            <a:off x="8280197" y="3767328"/>
            <a:ext cx="32714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8280197" y="4005072"/>
            <a:ext cx="327141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Prof. V. Palmieri, Dott. M. Bianco — UOC Medicina dello Sport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502920" y="4709160"/>
            <a:ext cx="11185855" cy="1600200"/>
          </a:xfrm>
          <a:prstGeom prst="roundRect">
            <a:avLst>
              <a:gd fmla="val 6857" name="adj"/>
            </a:avLst>
          </a:prstGeom>
          <a:solidFill>
            <a:srgbClr val="0A2E4D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4"/>
          <p:cNvSpPr/>
          <p:nvPr/>
        </p:nvSpPr>
        <p:spPr>
          <a:xfrm>
            <a:off x="777240" y="489204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Approccio individualizzato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777240" y="5212080"/>
            <a:ext cx="1063721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zone di allenamento sono definite sulla base dei dati del CPET (frequenza cardiaca massima e soglie ventilatorie VT1/VT2), in modo da calibrare in modo personalizzato l'intensità del lavoro aerobico e di forza sulla reale capacità funzionale del paziente, e non su valori standard di popolazione.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Caso clinico – Valvola polmonare bicuspide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10591495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12 / 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5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run.png" id="420" name="Google Shape;4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212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5"/>
          <p:cNvSpPr/>
          <p:nvPr/>
        </p:nvSpPr>
        <p:spPr>
          <a:xfrm>
            <a:off x="1252728" y="34747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PRESCRIZIONE DELL'ESERCIZIO FISICO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1252728" y="57607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0A2E4D"/>
                </a:solidFill>
                <a:latin typeface="Cambria"/>
                <a:ea typeface="Cambria"/>
                <a:cs typeface="Cambria"/>
                <a:sym typeface="Cambria"/>
              </a:rPr>
              <a:t>Attività aerobica — 3 sedute a settimana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502920" y="1371600"/>
            <a:ext cx="3545738" cy="868680"/>
          </a:xfrm>
          <a:prstGeom prst="roundRect">
            <a:avLst>
              <a:gd fmla="val 12632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5"/>
          <p:cNvSpPr/>
          <p:nvPr/>
        </p:nvSpPr>
        <p:spPr>
          <a:xfrm>
            <a:off x="667512" y="1522476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run.png" id="425" name="Google Shape;4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165963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5"/>
          <p:cNvSpPr/>
          <p:nvPr/>
        </p:nvSpPr>
        <p:spPr>
          <a:xfrm>
            <a:off x="1371600" y="1371600"/>
            <a:ext cx="253989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Camminata veloce / Tapis roulant / Corsa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4322978" y="1371600"/>
            <a:ext cx="3545738" cy="868680"/>
          </a:xfrm>
          <a:prstGeom prst="roundRect">
            <a:avLst>
              <a:gd fmla="val 12632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5"/>
          <p:cNvSpPr/>
          <p:nvPr/>
        </p:nvSpPr>
        <p:spPr>
          <a:xfrm>
            <a:off x="4487570" y="1522476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bike.png" id="429" name="Google Shape;42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4730" y="165963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5"/>
          <p:cNvSpPr/>
          <p:nvPr/>
        </p:nvSpPr>
        <p:spPr>
          <a:xfrm>
            <a:off x="5191658" y="1371600"/>
            <a:ext cx="253989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Cyclette / Spin bike / Ciclismo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8143037" y="1371600"/>
            <a:ext cx="3545738" cy="868680"/>
          </a:xfrm>
          <a:prstGeom prst="roundRect">
            <a:avLst>
              <a:gd fmla="val 12632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5"/>
          <p:cNvSpPr/>
          <p:nvPr/>
        </p:nvSpPr>
        <p:spPr>
          <a:xfrm>
            <a:off x="8307629" y="1522476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swim.png" id="433" name="Google Shape;43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44789" y="165963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5"/>
          <p:cNvSpPr/>
          <p:nvPr/>
        </p:nvSpPr>
        <p:spPr>
          <a:xfrm>
            <a:off x="9011717" y="1371600"/>
            <a:ext cx="253989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Nuoto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502920" y="2286000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Attività a scelta, anche combinabili tra le sedute — consentito impegno cardiovascolare intermittente a moderata intensità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810616" y="2697480"/>
            <a:ext cx="1600200" cy="3063240"/>
          </a:xfrm>
          <a:prstGeom prst="roundRect">
            <a:avLst>
              <a:gd fmla="val 6857" name="adj"/>
            </a:avLst>
          </a:prstGeom>
          <a:solidFill>
            <a:srgbClr val="0A2E4D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5"/>
          <p:cNvSpPr/>
          <p:nvPr/>
        </p:nvSpPr>
        <p:spPr>
          <a:xfrm>
            <a:off x="1359256" y="2898648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clock.png" id="438" name="Google Shape;43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96416" y="303580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5"/>
          <p:cNvSpPr/>
          <p:nvPr/>
        </p:nvSpPr>
        <p:spPr>
          <a:xfrm>
            <a:off x="902056" y="356616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Riscaldamento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902056" y="4069080"/>
            <a:ext cx="1417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10 minuti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intensità lieve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FC &lt; 110 bpm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1" name="Google Shape;441;p15"/>
          <p:cNvCxnSpPr/>
          <p:nvPr/>
        </p:nvCxnSpPr>
        <p:spPr>
          <a:xfrm>
            <a:off x="2447392" y="4229100"/>
            <a:ext cx="109728" cy="0"/>
          </a:xfrm>
          <a:prstGeom prst="straightConnector1">
            <a:avLst/>
          </a:prstGeom>
          <a:noFill/>
          <a:ln cap="flat" cmpd="sng" w="3175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" name="Google Shape;442;p15"/>
          <p:cNvSpPr/>
          <p:nvPr/>
        </p:nvSpPr>
        <p:spPr>
          <a:xfrm rot="5400000">
            <a:off x="2547976" y="4146804"/>
            <a:ext cx="146304" cy="164592"/>
          </a:xfrm>
          <a:prstGeom prst="triangle">
            <a:avLst>
              <a:gd fmla="val 50000" name="adj"/>
            </a:avLst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5"/>
          <p:cNvSpPr/>
          <p:nvPr/>
        </p:nvSpPr>
        <p:spPr>
          <a:xfrm>
            <a:off x="2666848" y="2697480"/>
            <a:ext cx="6858000" cy="3063240"/>
          </a:xfrm>
          <a:prstGeom prst="roundRect">
            <a:avLst>
              <a:gd fmla="val 3582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5"/>
          <p:cNvSpPr/>
          <p:nvPr/>
        </p:nvSpPr>
        <p:spPr>
          <a:xfrm>
            <a:off x="2895448" y="28346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Fase di lavoro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2941168" y="3246120"/>
            <a:ext cx="2103120" cy="2240280"/>
          </a:xfrm>
          <a:prstGeom prst="roundRect">
            <a:avLst>
              <a:gd fmla="val 5217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5"/>
          <p:cNvSpPr/>
          <p:nvPr/>
        </p:nvSpPr>
        <p:spPr>
          <a:xfrm>
            <a:off x="3050896" y="3355848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Continua — corta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3050896" y="3703320"/>
            <a:ext cx="18836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1 seduta / settimana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3050896" y="3995928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F7A8C"/>
                </a:solidFill>
                <a:latin typeface="Cambria"/>
                <a:ea typeface="Cambria"/>
                <a:cs typeface="Cambria"/>
                <a:sym typeface="Cambria"/>
              </a:rPr>
              <a:t>45 minuti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3050896" y="4389120"/>
            <a:ext cx="18836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Z3 · FC 140–160 bpm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5181448" y="3246120"/>
            <a:ext cx="2103120" cy="2240280"/>
          </a:xfrm>
          <a:prstGeom prst="roundRect">
            <a:avLst>
              <a:gd fmla="val 5217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5"/>
          <p:cNvSpPr/>
          <p:nvPr/>
        </p:nvSpPr>
        <p:spPr>
          <a:xfrm>
            <a:off x="5291176" y="3355848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Continua — lunga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5291176" y="3703320"/>
            <a:ext cx="18836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1 seduta / settimana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5291176" y="3995928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F7A8C"/>
                </a:solidFill>
                <a:latin typeface="Cambria"/>
                <a:ea typeface="Cambria"/>
                <a:cs typeface="Cambria"/>
                <a:sym typeface="Cambria"/>
              </a:rPr>
              <a:t>fino a 3 ore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5291176" y="4389120"/>
            <a:ext cx="18836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Z2 · FC 125–140 bpm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7421728" y="3246120"/>
            <a:ext cx="2103120" cy="2240280"/>
          </a:xfrm>
          <a:prstGeom prst="roundRect">
            <a:avLst>
              <a:gd fmla="val 5217" name="adj"/>
            </a:avLst>
          </a:prstGeom>
          <a:solidFill>
            <a:srgbClr val="FFE8DD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5"/>
          <p:cNvSpPr/>
          <p:nvPr/>
        </p:nvSpPr>
        <p:spPr>
          <a:xfrm>
            <a:off x="7531456" y="3355848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Intervallata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7531456" y="3703320"/>
            <a:ext cx="18836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1 seduta / settimana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7531456" y="3995928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F6B35"/>
                </a:solidFill>
                <a:latin typeface="Cambria"/>
                <a:ea typeface="Cambria"/>
                <a:cs typeface="Cambria"/>
                <a:sym typeface="Cambria"/>
              </a:rPr>
              <a:t>fino a 1 ora · serie variabili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7531456" y="4389120"/>
            <a:ext cx="18836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Z4 · FC 160–170 bpm · recupero ≥2'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2895448" y="53949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4550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Evitare lavori combinati forza-resistenza (“SFR”)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1" name="Google Shape;461;p15"/>
          <p:cNvCxnSpPr/>
          <p:nvPr/>
        </p:nvCxnSpPr>
        <p:spPr>
          <a:xfrm>
            <a:off x="9561424" y="4229100"/>
            <a:ext cx="109728" cy="0"/>
          </a:xfrm>
          <a:prstGeom prst="straightConnector1">
            <a:avLst/>
          </a:prstGeom>
          <a:noFill/>
          <a:ln cap="flat" cmpd="sng" w="3175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2" name="Google Shape;462;p15"/>
          <p:cNvSpPr/>
          <p:nvPr/>
        </p:nvSpPr>
        <p:spPr>
          <a:xfrm rot="5400000">
            <a:off x="9662008" y="4146804"/>
            <a:ext cx="146304" cy="164592"/>
          </a:xfrm>
          <a:prstGeom prst="triangle">
            <a:avLst>
              <a:gd fmla="val 50000" name="adj"/>
            </a:avLst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5"/>
          <p:cNvSpPr/>
          <p:nvPr/>
        </p:nvSpPr>
        <p:spPr>
          <a:xfrm>
            <a:off x="9780880" y="2697480"/>
            <a:ext cx="1600200" cy="3063240"/>
          </a:xfrm>
          <a:prstGeom prst="roundRect">
            <a:avLst>
              <a:gd fmla="val 6857" name="adj"/>
            </a:avLst>
          </a:prstGeom>
          <a:solidFill>
            <a:srgbClr val="0A2E4D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5"/>
          <p:cNvSpPr/>
          <p:nvPr/>
        </p:nvSpPr>
        <p:spPr>
          <a:xfrm>
            <a:off x="10329520" y="2898648"/>
            <a:ext cx="502920" cy="502920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clock.png" id="465" name="Google Shape;46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66680" y="303580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15"/>
          <p:cNvSpPr/>
          <p:nvPr/>
        </p:nvSpPr>
        <p:spPr>
          <a:xfrm>
            <a:off x="9872320" y="356616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Defaticamento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9872320" y="4069080"/>
            <a:ext cx="1417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10 minuti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intensità lieve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FC &lt; 110 bpm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502920" y="5897880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Nota bene: si raccomanda di monitorare la frequenza cardiaca mediante cardiofrequenzimetro a fascia toracica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Caso clinico – Valvola polmonare bicuspide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10591495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13 / 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6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dumbbell.png" id="477" name="Google Shape;4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212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16"/>
          <p:cNvSpPr/>
          <p:nvPr/>
        </p:nvSpPr>
        <p:spPr>
          <a:xfrm>
            <a:off x="1252728" y="34747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PRESCRIZIONE DELL'ESERCIZIO FISICO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6"/>
          <p:cNvSpPr/>
          <p:nvPr/>
        </p:nvSpPr>
        <p:spPr>
          <a:xfrm>
            <a:off x="1252728" y="57607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0A2E4D"/>
                </a:solidFill>
                <a:latin typeface="Cambria"/>
                <a:ea typeface="Cambria"/>
                <a:cs typeface="Cambria"/>
                <a:sym typeface="Cambria"/>
              </a:rPr>
              <a:t>Allenamento di forza e mobilità — 1 seduta a settimana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6"/>
          <p:cNvSpPr/>
          <p:nvPr/>
        </p:nvSpPr>
        <p:spPr>
          <a:xfrm>
            <a:off x="502920" y="1417320"/>
            <a:ext cx="5394960" cy="4892040"/>
          </a:xfrm>
          <a:prstGeom prst="roundRect">
            <a:avLst>
              <a:gd fmla="val 2243" name="adj"/>
            </a:avLst>
          </a:prstGeom>
          <a:solidFill>
            <a:srgbClr val="F6F9FA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6"/>
          <p:cNvSpPr/>
          <p:nvPr/>
        </p:nvSpPr>
        <p:spPr>
          <a:xfrm>
            <a:off x="731520" y="16002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Distretti muscolari coinvolti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731520" y="2011680"/>
            <a:ext cx="4937760" cy="1170432"/>
          </a:xfrm>
          <a:prstGeom prst="roundRect">
            <a:avLst>
              <a:gd fmla="val 9375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6"/>
          <p:cNvSpPr/>
          <p:nvPr/>
        </p:nvSpPr>
        <p:spPr>
          <a:xfrm>
            <a:off x="941832" y="213969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Arti superiori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6"/>
          <p:cNvSpPr/>
          <p:nvPr/>
        </p:nvSpPr>
        <p:spPr>
          <a:xfrm>
            <a:off x="941832" y="2450592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Pettorali · Deltoidi · Bicipiti brachiali · Tricipiti brachiali · Dorsali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6"/>
          <p:cNvSpPr/>
          <p:nvPr/>
        </p:nvSpPr>
        <p:spPr>
          <a:xfrm>
            <a:off x="731520" y="3337560"/>
            <a:ext cx="4937760" cy="1170432"/>
          </a:xfrm>
          <a:prstGeom prst="roundRect">
            <a:avLst>
              <a:gd fmla="val 9375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6"/>
          <p:cNvSpPr/>
          <p:nvPr/>
        </p:nvSpPr>
        <p:spPr>
          <a:xfrm>
            <a:off x="941832" y="34655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6"/>
          <p:cNvSpPr/>
          <p:nvPr/>
        </p:nvSpPr>
        <p:spPr>
          <a:xfrm>
            <a:off x="941832" y="3776472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Addominali · Lombari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6"/>
          <p:cNvSpPr/>
          <p:nvPr/>
        </p:nvSpPr>
        <p:spPr>
          <a:xfrm>
            <a:off x="731520" y="4663440"/>
            <a:ext cx="4937760" cy="1170432"/>
          </a:xfrm>
          <a:prstGeom prst="roundRect">
            <a:avLst>
              <a:gd fmla="val 9375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6"/>
          <p:cNvSpPr/>
          <p:nvPr/>
        </p:nvSpPr>
        <p:spPr>
          <a:xfrm>
            <a:off x="941832" y="479145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Arti inferiori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941832" y="5102352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Quadricipiti femorali · Bicipiti femorali · Tricipiti surali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6"/>
          <p:cNvSpPr/>
          <p:nvPr/>
        </p:nvSpPr>
        <p:spPr>
          <a:xfrm>
            <a:off x="6446520" y="1417320"/>
            <a:ext cx="5239512" cy="4892040"/>
          </a:xfrm>
          <a:prstGeom prst="roundRect">
            <a:avLst>
              <a:gd fmla="val 2243" name="adj"/>
            </a:avLst>
          </a:prstGeom>
          <a:solidFill>
            <a:srgbClr val="0A2E4D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6"/>
          <p:cNvSpPr/>
          <p:nvPr/>
        </p:nvSpPr>
        <p:spPr>
          <a:xfrm>
            <a:off x="6675120" y="160020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Modalità di allenamento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6"/>
          <p:cNvSpPr/>
          <p:nvPr/>
        </p:nvSpPr>
        <p:spPr>
          <a:xfrm>
            <a:off x="6675120" y="2007108"/>
            <a:ext cx="73152" cy="7315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6"/>
          <p:cNvSpPr/>
          <p:nvPr/>
        </p:nvSpPr>
        <p:spPr>
          <a:xfrm>
            <a:off x="6858000" y="1865376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5–6 gruppi muscolari per seduta, 2 esercizi per gruppo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6675120" y="2427732"/>
            <a:ext cx="73152" cy="7315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6"/>
          <p:cNvSpPr/>
          <p:nvPr/>
        </p:nvSpPr>
        <p:spPr>
          <a:xfrm>
            <a:off x="6858000" y="2286000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Esercizi sia mono- che poli-articolari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6675120" y="2848356"/>
            <a:ext cx="73152" cy="7315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6"/>
          <p:cNvSpPr/>
          <p:nvPr/>
        </p:nvSpPr>
        <p:spPr>
          <a:xfrm>
            <a:off x="6858000" y="2706624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serie × 15 ripetizioni al 40–50% di 1-RM (3–4 rip. in riserva)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6"/>
          <p:cNvSpPr/>
          <p:nvPr/>
        </p:nvSpPr>
        <p:spPr>
          <a:xfrm>
            <a:off x="6675120" y="3268980"/>
            <a:ext cx="73152" cy="7315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6"/>
          <p:cNvSpPr/>
          <p:nvPr/>
        </p:nvSpPr>
        <p:spPr>
          <a:xfrm>
            <a:off x="6858000" y="3127248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minuti di recupero tra le serie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6"/>
          <p:cNvSpPr/>
          <p:nvPr/>
        </p:nvSpPr>
        <p:spPr>
          <a:xfrm>
            <a:off x="6675120" y="3689604"/>
            <a:ext cx="73152" cy="7315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6"/>
          <p:cNvSpPr/>
          <p:nvPr/>
        </p:nvSpPr>
        <p:spPr>
          <a:xfrm>
            <a:off x="6858000" y="3547872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 sono previsti esercizi in isometria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3" name="Google Shape;503;p16"/>
          <p:cNvCxnSpPr/>
          <p:nvPr/>
        </p:nvCxnSpPr>
        <p:spPr>
          <a:xfrm>
            <a:off x="6675120" y="4087368"/>
            <a:ext cx="4754880" cy="0"/>
          </a:xfrm>
          <a:prstGeom prst="straightConnector1">
            <a:avLst/>
          </a:prstGeom>
          <a:noFill/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4" name="Google Shape;504;p16"/>
          <p:cNvSpPr/>
          <p:nvPr/>
        </p:nvSpPr>
        <p:spPr>
          <a:xfrm>
            <a:off x="6675120" y="420624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C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9FD8CF"/>
                </a:solidFill>
                <a:latin typeface="Calibri"/>
                <a:ea typeface="Calibri"/>
                <a:cs typeface="Calibri"/>
                <a:sym typeface="Calibri"/>
              </a:rPr>
              <a:t>Progressione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6675120" y="4498848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Variazione della tipologia di esercizi ogni mese; intensità progressiva fino al 70% di 1-RM (2–3 ripetizioni in riserva).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6675120" y="5212080"/>
            <a:ext cx="4754880" cy="868680"/>
          </a:xfrm>
          <a:prstGeom prst="roundRect">
            <a:avLst>
              <a:gd fmla="val 12632" name="adj"/>
            </a:avLst>
          </a:prstGeom>
          <a:solidFill>
            <a:srgbClr val="1F7A8C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6"/>
          <p:cNvSpPr/>
          <p:nvPr/>
        </p:nvSpPr>
        <p:spPr>
          <a:xfrm>
            <a:off x="6812280" y="5349240"/>
            <a:ext cx="566928" cy="566928"/>
          </a:xfrm>
          <a:prstGeom prst="ellipse">
            <a:avLst/>
          </a:prstGeom>
          <a:solidFill>
            <a:srgbClr val="0A2E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stretch.png" id="508" name="Google Shape;50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9440" y="54864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16"/>
          <p:cNvSpPr/>
          <p:nvPr/>
        </p:nvSpPr>
        <p:spPr>
          <a:xfrm>
            <a:off x="7498080" y="5212080"/>
            <a:ext cx="3794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Mobilità: stretching dei distretti coinvolti nella seduta, 60 secondi per distretto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Caso clinico – Valvola polmonare bicuspide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10591495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14 / 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7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shield.png" id="518" name="Google Shape;5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212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17"/>
          <p:cNvSpPr/>
          <p:nvPr/>
        </p:nvSpPr>
        <p:spPr>
          <a:xfrm>
            <a:off x="1252728" y="34747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PRESCRIZIONE DELL'ESERCIZIO FISICO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7"/>
          <p:cNvSpPr/>
          <p:nvPr/>
        </p:nvSpPr>
        <p:spPr>
          <a:xfrm>
            <a:off x="1252728" y="57607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0A2E4D"/>
                </a:solidFill>
                <a:latin typeface="Cambria"/>
                <a:ea typeface="Cambria"/>
                <a:cs typeface="Cambria"/>
                <a:sym typeface="Cambria"/>
              </a:rPr>
              <a:t>Monitoraggio, sicurezza e follow-up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7"/>
          <p:cNvSpPr/>
          <p:nvPr/>
        </p:nvSpPr>
        <p:spPr>
          <a:xfrm>
            <a:off x="502920" y="1417320"/>
            <a:ext cx="5486400" cy="4892040"/>
          </a:xfrm>
          <a:prstGeom prst="roundRect">
            <a:avLst>
              <a:gd fmla="val 2243" name="adj"/>
            </a:avLst>
          </a:prstGeom>
          <a:solidFill>
            <a:srgbClr val="FDF1EC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7"/>
          <p:cNvSpPr/>
          <p:nvPr/>
        </p:nvSpPr>
        <p:spPr>
          <a:xfrm>
            <a:off x="731520" y="1645920"/>
            <a:ext cx="566928" cy="566928"/>
          </a:xfrm>
          <a:prstGeom prst="ellipse">
            <a:avLst/>
          </a:prstGeom>
          <a:solidFill>
            <a:srgbClr val="D645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alert.png" id="523" name="Google Shape;52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1783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7"/>
          <p:cNvSpPr/>
          <p:nvPr/>
        </p:nvSpPr>
        <p:spPr>
          <a:xfrm>
            <a:off x="1463040" y="173736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55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Segnali di allarme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7"/>
          <p:cNvSpPr/>
          <p:nvPr/>
        </p:nvSpPr>
        <p:spPr>
          <a:xfrm>
            <a:off x="731520" y="2514600"/>
            <a:ext cx="2400300" cy="64008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7"/>
          <p:cNvSpPr/>
          <p:nvPr/>
        </p:nvSpPr>
        <p:spPr>
          <a:xfrm>
            <a:off x="731520" y="2514600"/>
            <a:ext cx="24003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Dispnea non abituale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7"/>
          <p:cNvSpPr/>
          <p:nvPr/>
        </p:nvSpPr>
        <p:spPr>
          <a:xfrm>
            <a:off x="3360420" y="2514600"/>
            <a:ext cx="2400300" cy="64008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7"/>
          <p:cNvSpPr/>
          <p:nvPr/>
        </p:nvSpPr>
        <p:spPr>
          <a:xfrm>
            <a:off x="3360420" y="2514600"/>
            <a:ext cx="24003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Dolore toracico / angor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7"/>
          <p:cNvSpPr/>
          <p:nvPr/>
        </p:nvSpPr>
        <p:spPr>
          <a:xfrm>
            <a:off x="731520" y="3291840"/>
            <a:ext cx="2400300" cy="64008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7"/>
          <p:cNvSpPr/>
          <p:nvPr/>
        </p:nvSpPr>
        <p:spPr>
          <a:xfrm>
            <a:off x="731520" y="3291840"/>
            <a:ext cx="24003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Cardiopalmo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7"/>
          <p:cNvSpPr/>
          <p:nvPr/>
        </p:nvSpPr>
        <p:spPr>
          <a:xfrm>
            <a:off x="3360420" y="3291840"/>
            <a:ext cx="2400300" cy="64008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7"/>
          <p:cNvSpPr/>
          <p:nvPr/>
        </p:nvSpPr>
        <p:spPr>
          <a:xfrm>
            <a:off x="3360420" y="3291840"/>
            <a:ext cx="24003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Lipotimia o pre-sincope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3" name="Google Shape;533;p17"/>
          <p:cNvCxnSpPr/>
          <p:nvPr/>
        </p:nvCxnSpPr>
        <p:spPr>
          <a:xfrm>
            <a:off x="731520" y="4251960"/>
            <a:ext cx="5029200" cy="0"/>
          </a:xfrm>
          <a:prstGeom prst="straightConnector1">
            <a:avLst/>
          </a:prstGeom>
          <a:noFill/>
          <a:ln cap="flat" cmpd="sng" w="12700">
            <a:solidFill>
              <a:srgbClr val="F0C9B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4" name="Google Shape;534;p17"/>
          <p:cNvSpPr/>
          <p:nvPr/>
        </p:nvSpPr>
        <p:spPr>
          <a:xfrm>
            <a:off x="731520" y="4389120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A2E4D"/>
                </a:solidFill>
                <a:latin typeface="Calibri"/>
                <a:ea typeface="Calibri"/>
                <a:cs typeface="Calibri"/>
                <a:sym typeface="Calibri"/>
              </a:rPr>
              <a:t>In caso di comparsa di sintomi: </a:t>
            </a:r>
            <a:r>
              <a:rPr lang="en-US" sz="125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sospendere l'attività e contattare l'Ambulatorio di Medicina dello Sport prima di riprendere l'allenamento.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7"/>
          <p:cNvSpPr/>
          <p:nvPr/>
        </p:nvSpPr>
        <p:spPr>
          <a:xfrm>
            <a:off x="731520" y="5166360"/>
            <a:ext cx="502920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7"/>
          <p:cNvSpPr/>
          <p:nvPr/>
        </p:nvSpPr>
        <p:spPr>
          <a:xfrm>
            <a:off x="914400" y="5166360"/>
            <a:ext cx="4663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06.3015.4078</a:t>
            </a:r>
            <a:br>
              <a:rPr b="1" lang="en-US" sz="1500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medicinadellosport@policlinicogemelli.it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7"/>
          <p:cNvSpPr/>
          <p:nvPr/>
        </p:nvSpPr>
        <p:spPr>
          <a:xfrm>
            <a:off x="6629400" y="1417320"/>
            <a:ext cx="5056632" cy="4892040"/>
          </a:xfrm>
          <a:prstGeom prst="roundRect">
            <a:avLst>
              <a:gd fmla="val 2243" name="adj"/>
            </a:avLst>
          </a:prstGeom>
          <a:solidFill>
            <a:srgbClr val="0A2E4D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7"/>
          <p:cNvSpPr/>
          <p:nvPr/>
        </p:nvSpPr>
        <p:spPr>
          <a:xfrm>
            <a:off x="6858000" y="164592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calendar.png" id="539" name="Google Shape;5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95160" y="1783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17"/>
          <p:cNvSpPr/>
          <p:nvPr/>
        </p:nvSpPr>
        <p:spPr>
          <a:xfrm>
            <a:off x="7589520" y="173736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Follow-up programmato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7"/>
          <p:cNvSpPr/>
          <p:nvPr/>
        </p:nvSpPr>
        <p:spPr>
          <a:xfrm>
            <a:off x="6903720" y="2560320"/>
            <a:ext cx="109728" cy="10972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7"/>
          <p:cNvSpPr/>
          <p:nvPr/>
        </p:nvSpPr>
        <p:spPr>
          <a:xfrm>
            <a:off x="7178040" y="242316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C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9FD8CF"/>
                </a:solidFill>
                <a:latin typeface="Calibri"/>
                <a:ea typeface="Calibri"/>
                <a:cs typeface="Calibri"/>
                <a:sym typeface="Calibri"/>
              </a:rPr>
              <a:t>RM cuore di controllo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7"/>
          <p:cNvSpPr/>
          <p:nvPr/>
        </p:nvSpPr>
        <p:spPr>
          <a:xfrm>
            <a:off x="7178040" y="2697480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Ogni 2 anni, per il monitoraggio dei rami arteriosi polmonari e del tronco polmonare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7"/>
          <p:cNvSpPr/>
          <p:nvPr/>
        </p:nvSpPr>
        <p:spPr>
          <a:xfrm>
            <a:off x="6903720" y="3520440"/>
            <a:ext cx="109728" cy="10972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7"/>
          <p:cNvSpPr/>
          <p:nvPr/>
        </p:nvSpPr>
        <p:spPr>
          <a:xfrm>
            <a:off x="7178040" y="338328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C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9FD8CF"/>
                </a:solidFill>
                <a:latin typeface="Calibri"/>
                <a:ea typeface="Calibri"/>
                <a:cs typeface="Calibri"/>
                <a:sym typeface="Calibri"/>
              </a:rPr>
              <a:t>Prossima visita cardiologica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7178040" y="3657600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Programmata per il 15 giugno 2028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6903720" y="4480560"/>
            <a:ext cx="109728" cy="10972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7"/>
          <p:cNvSpPr/>
          <p:nvPr/>
        </p:nvSpPr>
        <p:spPr>
          <a:xfrm>
            <a:off x="7178040" y="434340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C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9FD8CF"/>
                </a:solidFill>
                <a:latin typeface="Calibri"/>
                <a:ea typeface="Calibri"/>
                <a:cs typeface="Calibri"/>
                <a:sym typeface="Calibri"/>
              </a:rPr>
              <a:t>Rivalutazione del programma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7"/>
          <p:cNvSpPr/>
          <p:nvPr/>
        </p:nvSpPr>
        <p:spPr>
          <a:xfrm>
            <a:off x="7178040" y="4617720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Coordinata con l'UOC di Medicina dello Sport in base all'evoluzione clinico-strumentale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7"/>
          <p:cNvSpPr/>
          <p:nvPr/>
        </p:nvSpPr>
        <p:spPr>
          <a:xfrm>
            <a:off x="6858000" y="5486400"/>
            <a:ext cx="4599432" cy="685800"/>
          </a:xfrm>
          <a:prstGeom prst="roundRect">
            <a:avLst>
              <a:gd fmla="val 16000" name="adj"/>
            </a:avLst>
          </a:prstGeom>
          <a:solidFill>
            <a:srgbClr val="1F7A8C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7"/>
          <p:cNvSpPr/>
          <p:nvPr/>
        </p:nvSpPr>
        <p:spPr>
          <a:xfrm>
            <a:off x="6995160" y="5486400"/>
            <a:ext cx="434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 follow-up periodico è parte integrante della sicurezza della pratica sportiva a lungo termine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7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Caso clinico – Valvola polmonare bicuspide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7"/>
          <p:cNvSpPr/>
          <p:nvPr/>
        </p:nvSpPr>
        <p:spPr>
          <a:xfrm>
            <a:off x="10591495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15 / 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E4D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8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133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8"/>
          <p:cNvSpPr/>
          <p:nvPr/>
        </p:nvSpPr>
        <p:spPr>
          <a:xfrm>
            <a:off x="50292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CONCLUSIONI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8"/>
          <p:cNvSpPr/>
          <p:nvPr/>
        </p:nvSpPr>
        <p:spPr>
          <a:xfrm>
            <a:off x="502920" y="8229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Dal quadro clinico alla pratica sportiva sicura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8"/>
          <p:cNvSpPr/>
          <p:nvPr/>
        </p:nvSpPr>
        <p:spPr>
          <a:xfrm>
            <a:off x="502920" y="1600200"/>
            <a:ext cx="5410048" cy="1965960"/>
          </a:xfrm>
          <a:prstGeom prst="roundRect">
            <a:avLst>
              <a:gd fmla="val 5581" name="adj"/>
            </a:avLst>
          </a:prstGeom>
          <a:solidFill>
            <a:srgbClr val="133B5C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8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check.png" id="564" name="Google Shape;5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9659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18"/>
          <p:cNvSpPr/>
          <p:nvPr/>
        </p:nvSpPr>
        <p:spPr>
          <a:xfrm>
            <a:off x="1463040" y="1783080"/>
            <a:ext cx="42213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2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Quadro stabile nel tempo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8"/>
          <p:cNvSpPr/>
          <p:nvPr/>
        </p:nvSpPr>
        <p:spPr>
          <a:xfrm>
            <a:off x="1463040" y="2350008"/>
            <a:ext cx="422132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Valvola polmonare bicuspide con steno-insufficienza lieve e dilatazione del tronco polmonare, stabile da oltre 5 anni, in atleta agonista asintomatico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8"/>
          <p:cNvSpPr/>
          <p:nvPr/>
        </p:nvSpPr>
        <p:spPr>
          <a:xfrm>
            <a:off x="6278728" y="1600200"/>
            <a:ext cx="5410048" cy="1965960"/>
          </a:xfrm>
          <a:prstGeom prst="roundRect">
            <a:avLst>
              <a:gd fmla="val 5581" name="adj"/>
            </a:avLst>
          </a:prstGeom>
          <a:solidFill>
            <a:srgbClr val="133B5C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8"/>
          <p:cNvSpPr/>
          <p:nvPr/>
        </p:nvSpPr>
        <p:spPr>
          <a:xfrm>
            <a:off x="6507328" y="18288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activity.png" id="569" name="Google Shape;5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4488" y="19659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18"/>
          <p:cNvSpPr/>
          <p:nvPr/>
        </p:nvSpPr>
        <p:spPr>
          <a:xfrm>
            <a:off x="7238848" y="1783080"/>
            <a:ext cx="42213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2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Valutazione multimodale concordante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8"/>
          <p:cNvSpPr/>
          <p:nvPr/>
        </p:nvSpPr>
        <p:spPr>
          <a:xfrm>
            <a:off x="7238848" y="2350008"/>
            <a:ext cx="422132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Ecocardiogramma, RM cardiaca, angio-TC e CPET convergono su un quadro funzionale conservato e assenza di limitazioni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8"/>
          <p:cNvSpPr/>
          <p:nvPr/>
        </p:nvSpPr>
        <p:spPr>
          <a:xfrm>
            <a:off x="502920" y="3840480"/>
            <a:ext cx="5410048" cy="1965960"/>
          </a:xfrm>
          <a:prstGeom prst="roundRect">
            <a:avLst>
              <a:gd fmla="val 5581" name="adj"/>
            </a:avLst>
          </a:prstGeom>
          <a:solidFill>
            <a:srgbClr val="133B5C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8"/>
          <p:cNvSpPr/>
          <p:nvPr/>
        </p:nvSpPr>
        <p:spPr>
          <a:xfrm>
            <a:off x="731520" y="406908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target.png" id="574" name="Google Shape;57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" y="4206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18"/>
          <p:cNvSpPr/>
          <p:nvPr/>
        </p:nvSpPr>
        <p:spPr>
          <a:xfrm>
            <a:off x="1463040" y="4023360"/>
            <a:ext cx="42213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2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Prescrizione individualizzata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8"/>
          <p:cNvSpPr/>
          <p:nvPr/>
        </p:nvSpPr>
        <p:spPr>
          <a:xfrm>
            <a:off x="1463040" y="4590288"/>
            <a:ext cx="422132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Programma aerobico e di forza costruito sulle soglie ventilatorie e sulla FC massima del paziente, non su valori standard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8"/>
          <p:cNvSpPr/>
          <p:nvPr/>
        </p:nvSpPr>
        <p:spPr>
          <a:xfrm>
            <a:off x="6278728" y="3840480"/>
            <a:ext cx="5410048" cy="1965960"/>
          </a:xfrm>
          <a:prstGeom prst="roundRect">
            <a:avLst>
              <a:gd fmla="val 5581" name="adj"/>
            </a:avLst>
          </a:prstGeom>
          <a:solidFill>
            <a:srgbClr val="133B5C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8"/>
          <p:cNvSpPr/>
          <p:nvPr/>
        </p:nvSpPr>
        <p:spPr>
          <a:xfrm>
            <a:off x="6507328" y="406908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calendar.png" id="579" name="Google Shape;57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44488" y="4206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18"/>
          <p:cNvSpPr/>
          <p:nvPr/>
        </p:nvSpPr>
        <p:spPr>
          <a:xfrm>
            <a:off x="7238848" y="4023360"/>
            <a:ext cx="42213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2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Follow-up strutturato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8"/>
          <p:cNvSpPr/>
          <p:nvPr/>
        </p:nvSpPr>
        <p:spPr>
          <a:xfrm>
            <a:off x="7238848" y="4590288"/>
            <a:ext cx="422132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Monitoraggio clinico-strumentale periodico (RM ogni 2 anni) come garanzia di sicurezza nel tempo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8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Caso clinico – Valvola polmonare bicuspide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8"/>
          <p:cNvSpPr/>
          <p:nvPr/>
        </p:nvSpPr>
        <p:spPr>
          <a:xfrm>
            <a:off x="10591495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16 / 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9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book.png" id="590" name="Google Shape;5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212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19"/>
          <p:cNvSpPr/>
          <p:nvPr/>
        </p:nvSpPr>
        <p:spPr>
          <a:xfrm>
            <a:off x="1252728" y="34747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FONTI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9"/>
          <p:cNvSpPr/>
          <p:nvPr/>
        </p:nvSpPr>
        <p:spPr>
          <a:xfrm>
            <a:off x="1252728" y="57607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D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0A2E4D"/>
                </a:solidFill>
                <a:latin typeface="Cambria"/>
                <a:ea typeface="Cambria"/>
                <a:cs typeface="Cambria"/>
                <a:sym typeface="Cambria"/>
              </a:rPr>
              <a:t>Bibliografia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9"/>
          <p:cNvSpPr/>
          <p:nvPr/>
        </p:nvSpPr>
        <p:spPr>
          <a:xfrm>
            <a:off x="502920" y="1508760"/>
            <a:ext cx="53643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1. Bigotti A, Leonardo F, Pericoli NM. Bicuspid pulmonary valve. Minerva Cardioangiol. 1976;24:873–880. PMID 1012468.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9"/>
          <p:cNvSpPr/>
          <p:nvPr/>
        </p:nvSpPr>
        <p:spPr>
          <a:xfrm>
            <a:off x="502920" y="2350008"/>
            <a:ext cx="53643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2. Manivarmane R, Taylor R, Khattar R. A case of isolated bicuspid pulmonary valve. Echo Res Pract. 2018;5(1):K1–K6.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9"/>
          <p:cNvSpPr/>
          <p:nvPr/>
        </p:nvSpPr>
        <p:spPr>
          <a:xfrm>
            <a:off x="502920" y="3191256"/>
            <a:ext cx="53643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3. Koenraadt WMC, et al. Pulmonary Valve Morphology in Patients with Bicuspid Aortic Valves. Pediatr Cardiol. 2018;39:690–694.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9"/>
          <p:cNvSpPr/>
          <p:nvPr/>
        </p:nvSpPr>
        <p:spPr>
          <a:xfrm>
            <a:off x="502920" y="4032504"/>
            <a:ext cx="53643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4. Jamis-Dow CA, et al. Cardiology Research. 2014;5(2):83–84.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9"/>
          <p:cNvSpPr/>
          <p:nvPr/>
        </p:nvSpPr>
        <p:spPr>
          <a:xfrm>
            <a:off x="502920" y="4873752"/>
            <a:ext cx="53643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5. Sahebjam M, Toofaninejad N. J Tehran Univ Heart Cent. 2021;16(3):132–133.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9"/>
          <p:cNvSpPr/>
          <p:nvPr/>
        </p:nvSpPr>
        <p:spPr>
          <a:xfrm>
            <a:off x="6324448" y="1508760"/>
            <a:ext cx="53643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6. Bissell MM, et al. Front Physiol. 2017;8:374.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9"/>
          <p:cNvSpPr/>
          <p:nvPr/>
        </p:nvSpPr>
        <p:spPr>
          <a:xfrm>
            <a:off x="6324448" y="2350008"/>
            <a:ext cx="53643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7. Pelliccia A, et al. 2020 ESC Guidelines on sports cardiology and exercise in patients with cardiovascular disease. Eur Heart J. 2021;42:17–96.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9"/>
          <p:cNvSpPr/>
          <p:nvPr/>
        </p:nvSpPr>
        <p:spPr>
          <a:xfrm>
            <a:off x="6324448" y="3191256"/>
            <a:ext cx="53643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8. Domenech-Ximenos B, et al. Exercise-induced cardio-pulmonary remodelling in endurance athletes: Not only the heart adapts. Eur J Prev Cardiol. 2020;27:651–659.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9"/>
          <p:cNvSpPr/>
          <p:nvPr/>
        </p:nvSpPr>
        <p:spPr>
          <a:xfrm>
            <a:off x="6324448" y="4032504"/>
            <a:ext cx="53643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9. Kim JH, et al. Clinical Considerations for Competitive Sports Participation for Athletes With Cardiovascular Abnormalities: A Scientific Statement From the AHA/ACC. JACC. 2025;85(10):1059–1108.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9"/>
          <p:cNvSpPr/>
          <p:nvPr/>
        </p:nvSpPr>
        <p:spPr>
          <a:xfrm>
            <a:off x="6324448" y="4873752"/>
            <a:ext cx="53643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10. 2025 ACC/AHA/HRS/ISACHD/SCAI ACHD Guideline — Linee guida per la gestione dell'adulto con cardiopatia congenita.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9"/>
          <p:cNvSpPr/>
          <p:nvPr/>
        </p:nvSpPr>
        <p:spPr>
          <a:xfrm>
            <a:off x="502920" y="6172200"/>
            <a:ext cx="11185855" cy="365760"/>
          </a:xfrm>
          <a:prstGeom prst="roundRect">
            <a:avLst>
              <a:gd fmla="val 30000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9"/>
          <p:cNvSpPr/>
          <p:nvPr/>
        </p:nvSpPr>
        <p:spPr>
          <a:xfrm>
            <a:off x="685800" y="6172200"/>
            <a:ext cx="108200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Documentazione clinica: Fondazione Policlinico Universitario A. Gemelli IRCCS — Policlinico Casilino, Roma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9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Caso clinico – Valvola polmonare bicuspide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9"/>
          <p:cNvSpPr/>
          <p:nvPr/>
        </p:nvSpPr>
        <p:spPr>
          <a:xfrm>
            <a:off x="10591495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17 / 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h50118024b2c03704_0_24"/>
          <p:cNvSpPr/>
          <p:nvPr/>
        </p:nvSpPr>
        <p:spPr>
          <a:xfrm>
            <a:off x="502920" y="384048"/>
            <a:ext cx="567000" cy="567000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/book.png" id="613" name="Google Shape;613;h50118024b2c03704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212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h50118024b2c03704_0_24"/>
          <p:cNvSpPr/>
          <p:nvPr/>
        </p:nvSpPr>
        <p:spPr>
          <a:xfrm>
            <a:off x="1252728" y="57607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b="1" i="1" lang="en-US" sz="4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Conclusioni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h50118024b2c03704_0_24"/>
          <p:cNvSpPr/>
          <p:nvPr/>
        </p:nvSpPr>
        <p:spPr>
          <a:xfrm>
            <a:off x="502920" y="1508760"/>
            <a:ext cx="536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200">
                <a:solidFill>
                  <a:srgbClr val="0D0D0D"/>
                </a:solidFill>
                <a:highlight>
                  <a:srgbClr val="FCFCFC"/>
                </a:highlight>
              </a:rPr>
              <a:t> La BPV è una malformazione congenita rara e può essere associata a dilatazione dell'arteria polmonare.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h50118024b2c03704_0_24"/>
          <p:cNvSpPr/>
          <p:nvPr/>
        </p:nvSpPr>
        <p:spPr>
          <a:xfrm>
            <a:off x="502920" y="2350008"/>
            <a:ext cx="536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200">
                <a:solidFill>
                  <a:srgbClr val="0D0D0D"/>
                </a:solidFill>
                <a:highlight>
                  <a:srgbClr val="FCFCFC"/>
                </a:highlight>
              </a:rPr>
              <a:t>Nel nostro paziente la stenosi è lieve: </a:t>
            </a:r>
            <a:endParaRPr sz="1200">
              <a:solidFill>
                <a:srgbClr val="0D0D0D"/>
              </a:solidFill>
              <a:highlight>
                <a:srgbClr val="FCFCFC"/>
              </a:highlight>
            </a:endParaRPr>
          </a:p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200">
                <a:solidFill>
                  <a:srgbClr val="0D0D0D"/>
                </a:solidFill>
                <a:highlight>
                  <a:srgbClr val="FCFCFC"/>
                </a:highlight>
              </a:rPr>
              <a:t>Vmax 2,0 m/s → gradiente massimo ≈16 mmHg.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h50118024b2c03704_0_24"/>
          <p:cNvSpPr/>
          <p:nvPr/>
        </p:nvSpPr>
        <p:spPr>
          <a:xfrm>
            <a:off x="502920" y="3191256"/>
            <a:ext cx="536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200">
                <a:solidFill>
                  <a:srgbClr val="0D0D0D"/>
                </a:solidFill>
                <a:highlight>
                  <a:srgbClr val="FCFCFC"/>
                </a:highlight>
              </a:rPr>
              <a:t>La letteratura descrive casi di BPV associata a importante dilatazione della PA anche in presenza di stenosi lieve o minima.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h50118024b2c03704_0_24"/>
          <p:cNvSpPr/>
          <p:nvPr/>
        </p:nvSpPr>
        <p:spPr>
          <a:xfrm>
            <a:off x="502920" y="4032504"/>
            <a:ext cx="536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4. Jamis-Dow CA, et al. Cardiology Research. 2014;5(2):83–84.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h50118024b2c03704_0_24"/>
          <p:cNvSpPr/>
          <p:nvPr/>
        </p:nvSpPr>
        <p:spPr>
          <a:xfrm>
            <a:off x="502920" y="4873752"/>
            <a:ext cx="536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5. Sahebjam M, Toofaninejad N. J Tehran Univ Heart Cent. 2021;16(3):132–133.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h50118024b2c03704_0_24"/>
          <p:cNvSpPr/>
          <p:nvPr/>
        </p:nvSpPr>
        <p:spPr>
          <a:xfrm>
            <a:off x="6324448" y="1508760"/>
            <a:ext cx="536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200">
                <a:solidFill>
                  <a:srgbClr val="0D0D0D"/>
                </a:solidFill>
                <a:highlight>
                  <a:srgbClr val="FCFCFC"/>
                </a:highlight>
              </a:rPr>
              <a:t>Studi 4D-flow suggeriscono che la morfologia bicuspide possa associarsi ad alterazioni del flusso e dello wall shear stress, anche quando l'ostruzione valvolare è minima.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h50118024b2c03704_0_24"/>
          <p:cNvSpPr/>
          <p:nvPr/>
        </p:nvSpPr>
        <p:spPr>
          <a:xfrm>
            <a:off x="6324448" y="2350008"/>
            <a:ext cx="536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200">
                <a:solidFill>
                  <a:srgbClr val="0D0D0D"/>
                </a:solidFill>
                <a:highlight>
                  <a:srgbClr val="FCFCFC"/>
                </a:highlight>
              </a:rPr>
              <a:t>Nel nostro paziente la dilatazione della PA è persistente e importante, con maggiore interessamento della LPA.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h50118024b2c03704_0_24"/>
          <p:cNvSpPr/>
          <p:nvPr/>
        </p:nvSpPr>
        <p:spPr>
          <a:xfrm>
            <a:off x="6324448" y="3191256"/>
            <a:ext cx="536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200">
                <a:solidFill>
                  <a:srgbClr val="0D0D0D"/>
                </a:solidFill>
                <a:highlight>
                  <a:srgbClr val="FCFCFC"/>
                </a:highlight>
              </a:rPr>
              <a:t>Le attuali linee guida non forniscono una soglia dimensionale della PA che consenta di definire una controindicazione assoluta al ciclismo agonistico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h50118024b2c03704_0_24"/>
          <p:cNvSpPr/>
          <p:nvPr/>
        </p:nvSpPr>
        <p:spPr>
          <a:xfrm>
            <a:off x="6324448" y="4032504"/>
            <a:ext cx="536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9. Kim JH, et al. Clinical Considerations for Competitive Sports Participation for Athletes With Cardiovascular Abnormalities: A Scientific Statement From the AHA/ACC. JACC. 2025;85(10):1059–1108.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h50118024b2c03704_0_24"/>
          <p:cNvSpPr/>
          <p:nvPr/>
        </p:nvSpPr>
        <p:spPr>
          <a:xfrm>
            <a:off x="6324448" y="4873752"/>
            <a:ext cx="536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A253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530"/>
                </a:solidFill>
                <a:latin typeface="Calibri"/>
                <a:ea typeface="Calibri"/>
                <a:cs typeface="Calibri"/>
                <a:sym typeface="Calibri"/>
              </a:rPr>
              <a:t>10. 2025 ACC/AHA/HRS/ISACHD/SCAI ACHD Guideline — Linee guida per la gestione dell'adulto con cardiopatia congenita.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h50118024b2c03704_0_24"/>
          <p:cNvSpPr/>
          <p:nvPr/>
        </p:nvSpPr>
        <p:spPr>
          <a:xfrm>
            <a:off x="502920" y="6172200"/>
            <a:ext cx="11185800" cy="365700"/>
          </a:xfrm>
          <a:prstGeom prst="roundRect">
            <a:avLst>
              <a:gd fmla="val 30000" name="adj"/>
            </a:avLst>
          </a:prstGeom>
          <a:solidFill>
            <a:srgbClr val="E4F0EF"/>
          </a:solidFill>
          <a:ln>
            <a:noFill/>
          </a:ln>
          <a:effectLst>
            <a:outerShdw blurRad="76200" rotWithShape="0" algn="bl" dir="5400000" dist="25400">
              <a:srgbClr val="6B7A83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h50118024b2c03704_0_24"/>
          <p:cNvSpPr/>
          <p:nvPr/>
        </p:nvSpPr>
        <p:spPr>
          <a:xfrm>
            <a:off x="685800" y="6172200"/>
            <a:ext cx="1082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Documentazione clinica: Fondazione Policlinico Universitario A. Gemelli IRCCS — Policlinico Casilino, Roma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h50118024b2c03704_0_24"/>
          <p:cNvSpPr/>
          <p:nvPr/>
        </p:nvSpPr>
        <p:spPr>
          <a:xfrm>
            <a:off x="502920" y="6547104"/>
            <a:ext cx="731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Caso clinico – Valvola polmonare bicuspide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h50118024b2c03704_0_24"/>
          <p:cNvSpPr/>
          <p:nvPr/>
        </p:nvSpPr>
        <p:spPr>
          <a:xfrm>
            <a:off x="10591495" y="6547104"/>
            <a:ext cx="109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3"/>
                </a:solidFill>
                <a:latin typeface="Calibri"/>
                <a:ea typeface="Calibri"/>
                <a:cs typeface="Calibri"/>
                <a:sym typeface="Calibri"/>
              </a:rPr>
              <a:t>17 / 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2026-09-09T11:52:48Z</dcterms:created>
  <dc:creator>PptxGenJS</dc:creator>
</cp:coreProperties>
</file>